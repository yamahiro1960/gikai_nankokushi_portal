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65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EA34C1-4719-428F-B7FF-93B513977D2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BDDA76D-ECA0-4B87-9603-2BC31AB307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477A64F-31D3-4E73-9359-58B18509BAF7}"/>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39FF5880-2506-4536-A462-FCFCAD4EE0F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42E094-A44A-477F-AF58-A9C0DA39703C}"/>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6969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56355C-8622-4CA4-A511-FD1B47D6C9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2027D99-8594-4989-B685-EBD618EE19A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E9FDEC-62C2-47C7-A2DD-6A8513D50C2F}"/>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C19329B0-FB06-41CD-AC62-C8D8109FCB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9D8F84-F09F-4029-8F33-1B3D6434DA50}"/>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289242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2AB55E-BCF1-4F00-9418-DC93DB4251D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427B23-CAC0-4272-BE4C-F656ECEF83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6E7B2F9-54E8-4452-8854-D622C508D3A5}"/>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49C6D965-C4D0-4261-93C9-8DDA5A53D0F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F44EF-AE34-4A16-B3B2-33891772598C}"/>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1775712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34ED1F-2CA5-4EBC-998E-97DE06EB8B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60A1E44-31E9-46CD-BB28-A93706D242A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CE0107C-E4B6-4E79-86D0-6E085DD75D7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676FDC6-E060-4A7F-A304-398F841554A1}"/>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328B3C28-82AA-499C-8ED3-3A8C3E28C2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F294C9B-9520-443D-9BDC-0761EFDB40EE}"/>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3060134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83114A-8962-4554-8456-A5255E00EF0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2CC1F3-39F1-4516-9827-C898AA763D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6ACAC95-200E-4AB9-9BA9-37EF424C85C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9642364-4BF1-4D66-AF57-EBC5223F06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B7B1CA5-AE57-4AAE-B165-C2C00A90694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560A338-71F3-4FE3-BBE6-9C908F1E694A}"/>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8" name="フッター プレースホルダー 7">
            <a:extLst>
              <a:ext uri="{FF2B5EF4-FFF2-40B4-BE49-F238E27FC236}">
                <a16:creationId xmlns:a16="http://schemas.microsoft.com/office/drawing/2014/main" id="{F670FD00-7DE2-4731-845C-B1AFF799582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3F34578-441A-49E7-9DF7-C26F09CBBCA1}"/>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191975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82B4FA-570B-4169-81D8-9748868A7BB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8170FD5-A362-473B-8F58-72CE12018EA5}"/>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4" name="フッター プレースホルダー 3">
            <a:extLst>
              <a:ext uri="{FF2B5EF4-FFF2-40B4-BE49-F238E27FC236}">
                <a16:creationId xmlns:a16="http://schemas.microsoft.com/office/drawing/2014/main" id="{E4376060-72B7-4104-A5E7-DDEC6BA5CD38}"/>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1C576F8-351F-4792-9B47-343F0B5163F0}"/>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4263609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EC83594-FD7C-47F6-A880-58C1D52A4216}"/>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3" name="フッター プレースホルダー 2">
            <a:extLst>
              <a:ext uri="{FF2B5EF4-FFF2-40B4-BE49-F238E27FC236}">
                <a16:creationId xmlns:a16="http://schemas.microsoft.com/office/drawing/2014/main" id="{05AEFB8F-2225-4CCF-BF1E-68B4FDEBA91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2E0E010-D200-455C-AB81-817DAED58B80}"/>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215445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E5778A-2ABD-4AD7-A294-C1F9DA38A0C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99D66F9-B037-4055-B305-402D11C5A3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2E78812-EEC5-4DAA-B71B-9D5E4BC06C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30D8115-3047-40CB-BB94-A30621BA4A82}"/>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DFB0F02E-C712-478C-9B36-7CD8D5E11BF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B3C1C0E-F0D7-4F26-B22D-7C4E90D5AD05}"/>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171554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B2A3F4-2A67-4E9C-AE74-BEE0A9FBA68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CDE88E2-D4CD-4CD3-8C00-A386903CF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65E16AD-5EAB-45ED-8791-EF8D2C51F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94A0D7D-5DA5-46CD-B54A-5F62A72A02DD}"/>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6" name="フッター プレースホルダー 5">
            <a:extLst>
              <a:ext uri="{FF2B5EF4-FFF2-40B4-BE49-F238E27FC236}">
                <a16:creationId xmlns:a16="http://schemas.microsoft.com/office/drawing/2014/main" id="{DF41D45D-1EA9-42A2-B454-32B59555D41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217583-1A06-48DE-86F3-3C08BFA02577}"/>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3151553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60AD1-F5D8-46F8-AB0E-06B4BDA927C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885552C-4521-48C7-9E0A-87E9D8DB3CE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3301BC-92A3-4731-BB8D-C0580AC69671}"/>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19167DD7-DE6E-41C5-B1B5-82722C2CC2B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0B3D26-ABB0-4887-9342-E02D580E0947}"/>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2440081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74DBCAD-F247-4EC9-90B0-FDAEA0912D1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3628147-7D5E-4E68-9399-D229EA66ED1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CAA4CE-4A97-4B79-BDE6-5621D39D40FA}"/>
              </a:ext>
            </a:extLst>
          </p:cNvPr>
          <p:cNvSpPr>
            <a:spLocks noGrp="1"/>
          </p:cNvSpPr>
          <p:nvPr>
            <p:ph type="dt" sz="half" idx="10"/>
          </p:nvPr>
        </p:nvSpPr>
        <p:spPr/>
        <p:txBody>
          <a:bodyPr/>
          <a:lstStyle/>
          <a:p>
            <a:fld id="{BAFE7EE3-A7E6-4033-84A9-DF4FA817BCF3}"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6683C062-C584-4D28-B55D-3CE3F755CF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93B175-4BD8-4FE8-BE3C-6A26F35C8E55}"/>
              </a:ext>
            </a:extLst>
          </p:cNvPr>
          <p:cNvSpPr>
            <a:spLocks noGrp="1"/>
          </p:cNvSpPr>
          <p:nvPr>
            <p:ph type="sldNum" sz="quarter" idx="12"/>
          </p:nvPr>
        </p:nvSpPr>
        <p:spPr/>
        <p:txBody>
          <a:body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3942738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E96F693-E37F-40E0-AC7E-34E37C7FFC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EFC9B3C-699D-44B8-946B-E5FED7A7E2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708D77-A98F-4510-82A6-6FC2B8280A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FE7EE3-A7E6-4033-84A9-DF4FA817BCF3}" type="datetimeFigureOut">
              <a:rPr kumimoji="1" lang="ja-JP" altLang="en-US" smtClean="0"/>
              <a:t>2026/2/18</a:t>
            </a:fld>
            <a:endParaRPr kumimoji="1" lang="ja-JP" altLang="en-US"/>
          </a:p>
        </p:txBody>
      </p:sp>
      <p:sp>
        <p:nvSpPr>
          <p:cNvPr id="5" name="フッター プレースホルダー 4">
            <a:extLst>
              <a:ext uri="{FF2B5EF4-FFF2-40B4-BE49-F238E27FC236}">
                <a16:creationId xmlns:a16="http://schemas.microsoft.com/office/drawing/2014/main" id="{C6B2DD3A-3F3D-43A5-A14D-DBC47A27E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BFCEA11-5B4E-4920-B55B-184DDB62E0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44CD8-6B0F-4EC8-8252-AC2BE0D07350}" type="slidenum">
              <a:rPr kumimoji="1" lang="ja-JP" altLang="en-US" smtClean="0"/>
              <a:t>‹#›</a:t>
            </a:fld>
            <a:endParaRPr kumimoji="1" lang="ja-JP" altLang="en-US"/>
          </a:p>
        </p:txBody>
      </p:sp>
    </p:spTree>
    <p:extLst>
      <p:ext uri="{BB962C8B-B14F-4D97-AF65-F5344CB8AC3E}">
        <p14:creationId xmlns:p14="http://schemas.microsoft.com/office/powerpoint/2010/main" val="2831048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8A6B76-81B2-44E3-A5EC-7F148B2122F0}"/>
              </a:ext>
            </a:extLst>
          </p:cNvPr>
          <p:cNvSpPr>
            <a:spLocks noGrp="1"/>
          </p:cNvSpPr>
          <p:nvPr>
            <p:ph type="ctrTitle"/>
          </p:nvPr>
        </p:nvSpPr>
        <p:spPr>
          <a:xfrm>
            <a:off x="1441704" y="190621"/>
            <a:ext cx="9144000" cy="439393"/>
          </a:xfrm>
        </p:spPr>
        <p:txBody>
          <a:bodyPr>
            <a:normAutofit/>
          </a:bodyPr>
          <a:lstStyle/>
          <a:p>
            <a:r>
              <a:rPr kumimoji="1" lang="ja-JP" altLang="en-US" sz="2400" b="1" dirty="0">
                <a:latin typeface="ＭＳ ゴシック" panose="020B0609070205080204" pitchFamily="49" charset="-128"/>
                <a:ea typeface="ＭＳ ゴシック" panose="020B0609070205080204" pitchFamily="49" charset="-128"/>
              </a:rPr>
              <a:t>国民健康保険税条例　税率改定について</a:t>
            </a:r>
          </a:p>
        </p:txBody>
      </p:sp>
      <p:sp>
        <p:nvSpPr>
          <p:cNvPr id="3" name="字幕 2">
            <a:extLst>
              <a:ext uri="{FF2B5EF4-FFF2-40B4-BE49-F238E27FC236}">
                <a16:creationId xmlns:a16="http://schemas.microsoft.com/office/drawing/2014/main" id="{7111644D-E63F-457C-8E91-89EC5BC9A820}"/>
              </a:ext>
            </a:extLst>
          </p:cNvPr>
          <p:cNvSpPr>
            <a:spLocks noGrp="1"/>
          </p:cNvSpPr>
          <p:nvPr>
            <p:ph type="subTitle" idx="1"/>
          </p:nvPr>
        </p:nvSpPr>
        <p:spPr>
          <a:xfrm>
            <a:off x="1075372" y="2021445"/>
            <a:ext cx="10936224" cy="1079347"/>
          </a:xfrm>
        </p:spPr>
        <p:txBody>
          <a:bodyPr>
            <a:normAutofit lnSpcReduction="10000"/>
          </a:bodyPr>
          <a:lstStyle/>
          <a:p>
            <a:pPr algn="l">
              <a:lnSpc>
                <a:spcPct val="110000"/>
              </a:lnSpc>
              <a:spcBef>
                <a:spcPts val="0"/>
              </a:spcBef>
            </a:pPr>
            <a:r>
              <a:rPr lang="ja-JP" altLang="en-US" sz="1800" dirty="0">
                <a:latin typeface="ＭＳ ゴシック" panose="020B0609070205080204" pitchFamily="49" charset="-128"/>
                <a:ea typeface="ＭＳ ゴシック" panose="020B0609070205080204" pitchFamily="49" charset="-128"/>
              </a:rPr>
              <a:t>〇子ども・子育て支援金制度の創設</a:t>
            </a:r>
            <a:endParaRPr lang="en-US" altLang="ja-JP" sz="1800" dirty="0">
              <a:latin typeface="ＭＳ ゴシック" panose="020B0609070205080204" pitchFamily="49" charset="-128"/>
              <a:ea typeface="ＭＳ ゴシック" panose="020B0609070205080204" pitchFamily="49" charset="-128"/>
            </a:endParaRPr>
          </a:p>
          <a:p>
            <a:pPr algn="l">
              <a:lnSpc>
                <a:spcPct val="110000"/>
              </a:lnSpc>
              <a:spcBef>
                <a:spcPts val="0"/>
              </a:spcBef>
            </a:pPr>
            <a:r>
              <a:rPr kumimoji="1" lang="ja-JP" altLang="en-US" sz="1400" dirty="0"/>
              <a:t>　令和</a:t>
            </a:r>
            <a:r>
              <a:rPr kumimoji="1" lang="en-US" altLang="ja-JP" sz="1400" dirty="0"/>
              <a:t>8</a:t>
            </a:r>
            <a:r>
              <a:rPr kumimoji="1" lang="ja-JP" altLang="en-US" sz="1400" dirty="0"/>
              <a:t>年度から「子ども・子育て支援金制度」がスタートします。この制度は、社会連帯の理念を基盤に、全世帯が子どもや子育て世帯を社会全体で支え応援する仕組みです。支援金は保険料に上乗せして拠出し、少子化対策を促進するために、児童手当の拡充や妊婦のための支援給付、育児時短就業給付など、さまざまな施策に充てられます。</a:t>
            </a:r>
          </a:p>
        </p:txBody>
      </p:sp>
      <p:sp>
        <p:nvSpPr>
          <p:cNvPr id="4" name="テキスト ボックス 3">
            <a:extLst>
              <a:ext uri="{FF2B5EF4-FFF2-40B4-BE49-F238E27FC236}">
                <a16:creationId xmlns:a16="http://schemas.microsoft.com/office/drawing/2014/main" id="{92E8BCC7-6F2C-402A-9310-9627EE146042}"/>
              </a:ext>
            </a:extLst>
          </p:cNvPr>
          <p:cNvSpPr txBox="1"/>
          <p:nvPr/>
        </p:nvSpPr>
        <p:spPr>
          <a:xfrm>
            <a:off x="1008697" y="3010342"/>
            <a:ext cx="11002899" cy="1046440"/>
          </a:xfrm>
          <a:prstGeom prst="rect">
            <a:avLst/>
          </a:prstGeom>
          <a:noFill/>
        </p:spPr>
        <p:txBody>
          <a:bodyPr wrap="square" rtlCol="0">
            <a:spAutoFit/>
          </a:bodyPr>
          <a:lstStyle/>
          <a:p>
            <a:r>
              <a:rPr kumimoji="1" lang="ja-JP" altLang="en-US" dirty="0">
                <a:latin typeface="ＭＳ ゴシック" panose="020B0609070205080204" pitchFamily="49" charset="-128"/>
                <a:ea typeface="ＭＳ ゴシック" panose="020B0609070205080204" pitchFamily="49" charset="-128"/>
              </a:rPr>
              <a:t>〇国保税課税限度額の引き上げ</a:t>
            </a:r>
            <a:endParaRPr kumimoji="1" lang="en-US" altLang="ja-JP" dirty="0">
              <a:latin typeface="ＭＳ ゴシック" panose="020B0609070205080204" pitchFamily="49" charset="-128"/>
              <a:ea typeface="ＭＳ ゴシック" panose="020B0609070205080204" pitchFamily="49" charset="-128"/>
            </a:endParaRPr>
          </a:p>
          <a:p>
            <a:r>
              <a:rPr kumimoji="1" lang="ja-JP" altLang="en-US" sz="1400" dirty="0"/>
              <a:t>　国保税の</a:t>
            </a:r>
            <a:r>
              <a:rPr lang="ja-JP" altLang="en-US" sz="1400" dirty="0"/>
              <a:t>賦課</a:t>
            </a:r>
            <a:r>
              <a:rPr kumimoji="1" lang="ja-JP" altLang="en-US" sz="1400" dirty="0"/>
              <a:t>額は一定の上限額が設けられています（</a:t>
            </a:r>
            <a:r>
              <a:rPr kumimoji="1" lang="en-US" altLang="ja-JP" sz="1400" dirty="0"/>
              <a:t>R7</a:t>
            </a:r>
            <a:r>
              <a:rPr kumimoji="1" lang="ja-JP" altLang="en-US" sz="1400" dirty="0"/>
              <a:t>：基礎課税分（医療分）</a:t>
            </a:r>
            <a:r>
              <a:rPr kumimoji="1" lang="en-US" altLang="ja-JP" sz="1400" dirty="0"/>
              <a:t>66</a:t>
            </a:r>
            <a:r>
              <a:rPr kumimoji="1" lang="ja-JP" altLang="en-US" sz="1400" dirty="0"/>
              <a:t>万円、後期高齢者支援分</a:t>
            </a:r>
            <a:r>
              <a:rPr kumimoji="1" lang="en-US" altLang="ja-JP" sz="1400" dirty="0"/>
              <a:t>26</a:t>
            </a:r>
            <a:r>
              <a:rPr kumimoji="1" lang="ja-JP" altLang="en-US" sz="1400" dirty="0"/>
              <a:t>万円、介護納付金</a:t>
            </a:r>
            <a:r>
              <a:rPr kumimoji="1" lang="en-US" altLang="ja-JP" sz="1400" dirty="0"/>
              <a:t>17</a:t>
            </a:r>
            <a:r>
              <a:rPr kumimoji="1" lang="ja-JP" altLang="en-US" sz="1400" dirty="0"/>
              <a:t>万円）。国は医療の高度化等に伴う医療費増を見込み、令和</a:t>
            </a:r>
            <a:r>
              <a:rPr kumimoji="1" lang="en-US" altLang="ja-JP" sz="1400" dirty="0"/>
              <a:t>8</a:t>
            </a:r>
            <a:r>
              <a:rPr kumimoji="1" lang="ja-JP" altLang="en-US" sz="1400" dirty="0"/>
              <a:t>年度に基礎課税分（医療分）を</a:t>
            </a:r>
            <a:r>
              <a:rPr kumimoji="1" lang="en-US" altLang="ja-JP" sz="1400" dirty="0"/>
              <a:t>1</a:t>
            </a:r>
            <a:r>
              <a:rPr kumimoji="1" lang="ja-JP" altLang="en-US" sz="1400" dirty="0"/>
              <a:t>万円引き上げて</a:t>
            </a:r>
            <a:r>
              <a:rPr kumimoji="1" lang="en-US" altLang="ja-JP" sz="1400" dirty="0"/>
              <a:t>67</a:t>
            </a:r>
            <a:r>
              <a:rPr kumimoji="1" lang="ja-JP" altLang="en-US" sz="1400" dirty="0"/>
              <a:t>万円としました。また、上記子ども・子育て支援金分は</a:t>
            </a:r>
            <a:r>
              <a:rPr kumimoji="1" lang="en-US" altLang="ja-JP" sz="1400" dirty="0"/>
              <a:t>3</a:t>
            </a:r>
            <a:r>
              <a:rPr kumimoji="1" lang="ja-JP" altLang="en-US" sz="1400" dirty="0"/>
              <a:t>万円となり、令和</a:t>
            </a:r>
            <a:r>
              <a:rPr kumimoji="1" lang="en-US" altLang="ja-JP" sz="1400" dirty="0"/>
              <a:t>8</a:t>
            </a:r>
            <a:r>
              <a:rPr kumimoji="1" lang="ja-JP" altLang="en-US" sz="1400" dirty="0"/>
              <a:t>年度における全体の課税限度額は</a:t>
            </a:r>
            <a:r>
              <a:rPr kumimoji="1" lang="en-US" altLang="ja-JP" sz="1400" dirty="0"/>
              <a:t>113</a:t>
            </a:r>
            <a:r>
              <a:rPr kumimoji="1" lang="ja-JP" altLang="en-US" sz="1400" dirty="0"/>
              <a:t>万円となります。</a:t>
            </a:r>
          </a:p>
        </p:txBody>
      </p:sp>
      <p:sp>
        <p:nvSpPr>
          <p:cNvPr id="6" name="テキスト ボックス 5">
            <a:extLst>
              <a:ext uri="{FF2B5EF4-FFF2-40B4-BE49-F238E27FC236}">
                <a16:creationId xmlns:a16="http://schemas.microsoft.com/office/drawing/2014/main" id="{46577FD6-8DF3-49D5-AF2F-D1682F838BF5}"/>
              </a:ext>
            </a:extLst>
          </p:cNvPr>
          <p:cNvSpPr txBox="1"/>
          <p:nvPr/>
        </p:nvSpPr>
        <p:spPr>
          <a:xfrm>
            <a:off x="1042035" y="4005818"/>
            <a:ext cx="11002898" cy="830997"/>
          </a:xfrm>
          <a:prstGeom prst="rect">
            <a:avLst/>
          </a:prstGeom>
          <a:noFill/>
        </p:spPr>
        <p:txBody>
          <a:bodyPr wrap="square" rtlCol="0">
            <a:spAutoFit/>
          </a:bodyPr>
          <a:lstStyle/>
          <a:p>
            <a:r>
              <a:rPr kumimoji="1" lang="ja-JP" altLang="en-US" dirty="0">
                <a:latin typeface="ＭＳ ゴシック" panose="020B0609070205080204" pitchFamily="49" charset="-128"/>
                <a:ea typeface="ＭＳ ゴシック" panose="020B0609070205080204" pitchFamily="49" charset="-128"/>
              </a:rPr>
              <a:t>〇低所得者に係る軽減判定所得の引き上げ</a:t>
            </a:r>
            <a:endParaRPr kumimoji="1" lang="en-US" altLang="ja-JP" dirty="0">
              <a:latin typeface="ＭＳ ゴシック" panose="020B0609070205080204" pitchFamily="49" charset="-128"/>
              <a:ea typeface="ＭＳ ゴシック" panose="020B0609070205080204" pitchFamily="49" charset="-128"/>
            </a:endParaRPr>
          </a:p>
          <a:p>
            <a:r>
              <a:rPr kumimoji="1" lang="ja-JP" altLang="en-US" sz="1400" dirty="0"/>
              <a:t>　国保税では低所得者に対する軽減措置として所得に応じて、</a:t>
            </a:r>
            <a:r>
              <a:rPr kumimoji="1" lang="en-US" altLang="ja-JP" sz="1400" dirty="0"/>
              <a:t>7</a:t>
            </a:r>
            <a:r>
              <a:rPr kumimoji="1" lang="ja-JP" altLang="en-US" sz="1400" dirty="0"/>
              <a:t>割・</a:t>
            </a:r>
            <a:r>
              <a:rPr kumimoji="1" lang="en-US" altLang="ja-JP" sz="1400" dirty="0"/>
              <a:t>5</a:t>
            </a:r>
            <a:r>
              <a:rPr kumimoji="1" lang="ja-JP" altLang="en-US" sz="1400" dirty="0"/>
              <a:t>割・</a:t>
            </a:r>
            <a:r>
              <a:rPr kumimoji="1" lang="en-US" altLang="ja-JP" sz="1400" dirty="0"/>
              <a:t>2</a:t>
            </a:r>
            <a:r>
              <a:rPr kumimoji="1" lang="ja-JP" altLang="en-US" sz="1400" dirty="0"/>
              <a:t>割軽減を行っています。</a:t>
            </a:r>
            <a:r>
              <a:rPr lang="ja-JP" altLang="en-US" sz="1400" dirty="0"/>
              <a:t>令和</a:t>
            </a:r>
            <a:r>
              <a:rPr lang="en-US" altLang="ja-JP" sz="1400" dirty="0"/>
              <a:t>8</a:t>
            </a:r>
            <a:r>
              <a:rPr lang="ja-JP" altLang="en-US" sz="1400" dirty="0"/>
              <a:t>年度に軽減判定所得の基準額引き上げを予定しています。</a:t>
            </a:r>
            <a:r>
              <a:rPr lang="en-US" altLang="ja-JP" sz="1400" dirty="0"/>
              <a:t>5</a:t>
            </a:r>
            <a:r>
              <a:rPr lang="ja-JP" altLang="en-US" sz="1400" dirty="0"/>
              <a:t>割軽減「</a:t>
            </a:r>
            <a:r>
              <a:rPr lang="en-US" altLang="ja-JP" sz="1400" dirty="0"/>
              <a:t>30.5</a:t>
            </a:r>
            <a:r>
              <a:rPr lang="ja-JP" altLang="en-US" sz="1400" dirty="0"/>
              <a:t>万円」→「</a:t>
            </a:r>
            <a:r>
              <a:rPr lang="en-US" altLang="ja-JP" sz="1400" dirty="0"/>
              <a:t>31</a:t>
            </a:r>
            <a:r>
              <a:rPr lang="ja-JP" altLang="en-US" sz="1400" dirty="0"/>
              <a:t>万円」、</a:t>
            </a:r>
            <a:r>
              <a:rPr lang="en-US" altLang="ja-JP" sz="1400" dirty="0"/>
              <a:t>2</a:t>
            </a:r>
            <a:r>
              <a:rPr lang="ja-JP" altLang="en-US" sz="1400" dirty="0"/>
              <a:t>割軽減「</a:t>
            </a:r>
            <a:r>
              <a:rPr lang="en-US" altLang="ja-JP" sz="1400" dirty="0"/>
              <a:t>56</a:t>
            </a:r>
            <a:r>
              <a:rPr lang="ja-JP" altLang="en-US" sz="1400" dirty="0"/>
              <a:t>万円」→「</a:t>
            </a:r>
            <a:r>
              <a:rPr lang="en-US" altLang="ja-JP" sz="1400" dirty="0"/>
              <a:t>57</a:t>
            </a:r>
            <a:r>
              <a:rPr lang="ja-JP" altLang="en-US" sz="1400" dirty="0"/>
              <a:t>万円」</a:t>
            </a:r>
            <a:endParaRPr kumimoji="1" lang="en-US" altLang="ja-JP" sz="1400" dirty="0"/>
          </a:p>
        </p:txBody>
      </p:sp>
      <p:sp>
        <p:nvSpPr>
          <p:cNvPr id="5" name="テキスト ボックス 4">
            <a:extLst>
              <a:ext uri="{FF2B5EF4-FFF2-40B4-BE49-F238E27FC236}">
                <a16:creationId xmlns:a16="http://schemas.microsoft.com/office/drawing/2014/main" id="{CD8F5271-F5D9-4A00-AAA7-AFAA6C0AD157}"/>
              </a:ext>
            </a:extLst>
          </p:cNvPr>
          <p:cNvSpPr txBox="1"/>
          <p:nvPr/>
        </p:nvSpPr>
        <p:spPr>
          <a:xfrm>
            <a:off x="600456" y="615516"/>
            <a:ext cx="11201400" cy="1323439"/>
          </a:xfrm>
          <a:prstGeom prst="rect">
            <a:avLst/>
          </a:prstGeom>
          <a:noFill/>
        </p:spPr>
        <p:txBody>
          <a:bodyPr wrap="square" rtlCol="0">
            <a:spAutoFit/>
          </a:bodyPr>
          <a:lstStyle/>
          <a:p>
            <a:r>
              <a:rPr kumimoji="1" lang="ja-JP" altLang="en-US" sz="1600" dirty="0"/>
              <a:t>　国民健康保険法第</a:t>
            </a:r>
            <a:r>
              <a:rPr kumimoji="1" lang="en-US" altLang="ja-JP" sz="1600" dirty="0"/>
              <a:t>76</a:t>
            </a:r>
            <a:r>
              <a:rPr kumimoji="1" lang="ja-JP" altLang="en-US" sz="1600" dirty="0"/>
              <a:t>条及び地方税法第</a:t>
            </a:r>
            <a:r>
              <a:rPr kumimoji="1" lang="en-US" altLang="ja-JP" sz="1600" dirty="0"/>
              <a:t>703</a:t>
            </a:r>
            <a:r>
              <a:rPr kumimoji="1" lang="ja-JP" altLang="en-US" sz="1600" dirty="0"/>
              <a:t>条の</a:t>
            </a:r>
            <a:r>
              <a:rPr kumimoji="1" lang="en-US" altLang="ja-JP" sz="1600" dirty="0"/>
              <a:t>4</a:t>
            </a:r>
            <a:r>
              <a:rPr kumimoji="1" lang="ja-JP" altLang="en-US" sz="1600" dirty="0"/>
              <a:t>が改正され、令和</a:t>
            </a:r>
            <a:r>
              <a:rPr kumimoji="1" lang="en-US" altLang="ja-JP" sz="1600" dirty="0"/>
              <a:t>8</a:t>
            </a:r>
            <a:r>
              <a:rPr kumimoji="1" lang="ja-JP" altLang="en-US" sz="1600" dirty="0"/>
              <a:t>年</a:t>
            </a:r>
            <a:r>
              <a:rPr kumimoji="1" lang="en-US" altLang="ja-JP" sz="1600" dirty="0"/>
              <a:t>4</a:t>
            </a:r>
            <a:r>
              <a:rPr kumimoji="1" lang="ja-JP" altLang="en-US" sz="1600" dirty="0"/>
              <a:t>月</a:t>
            </a:r>
            <a:r>
              <a:rPr kumimoji="1" lang="en-US" altLang="ja-JP" sz="1600" dirty="0"/>
              <a:t>1</a:t>
            </a:r>
            <a:r>
              <a:rPr kumimoji="1" lang="ja-JP" altLang="en-US" sz="1600" dirty="0"/>
              <a:t>日より子ども・子育て支援金制度</a:t>
            </a:r>
            <a:r>
              <a:rPr lang="ja-JP" altLang="en-US" sz="1600" dirty="0"/>
              <a:t>の</a:t>
            </a:r>
            <a:r>
              <a:rPr kumimoji="1" lang="ja-JP" altLang="en-US" sz="1600" dirty="0"/>
              <a:t>創設と法改正があり、それらに対応する</a:t>
            </a:r>
            <a:r>
              <a:rPr lang="ja-JP" altLang="en-US" sz="1600" dirty="0"/>
              <a:t>べく</a:t>
            </a:r>
            <a:r>
              <a:rPr kumimoji="1" lang="ja-JP" altLang="en-US" sz="1600" dirty="0"/>
              <a:t>南国市国民健康保険税条例改正の必要があります。</a:t>
            </a:r>
            <a:endParaRPr kumimoji="1" lang="en-US" altLang="ja-JP" sz="1600" dirty="0"/>
          </a:p>
          <a:p>
            <a:r>
              <a:rPr lang="ja-JP" altLang="en-US" sz="1600" dirty="0"/>
              <a:t>　国保税が増税となり、本来で</a:t>
            </a:r>
            <a:r>
              <a:rPr lang="ja-JP" altLang="en-US" sz="1600"/>
              <a:t>あれば、条例</a:t>
            </a:r>
            <a:r>
              <a:rPr lang="ja-JP" altLang="en-US" sz="1600" dirty="0"/>
              <a:t>改正の議案提出を行い議案審議されたのちに議決をへて条例の施行となるべきですが、複雑な条文改正に時間を要していることから、</a:t>
            </a:r>
            <a:r>
              <a:rPr lang="en-US" altLang="ja-JP" sz="1600" dirty="0"/>
              <a:t>3</a:t>
            </a:r>
            <a:r>
              <a:rPr lang="ja-JP" altLang="en-US" sz="1600" dirty="0"/>
              <a:t>月定例議会での議案提出が間に合わず、</a:t>
            </a:r>
            <a:r>
              <a:rPr lang="en-US" altLang="ja-JP" sz="1600" dirty="0"/>
              <a:t>3</a:t>
            </a:r>
            <a:r>
              <a:rPr lang="ja-JP" altLang="en-US" sz="1600" dirty="0"/>
              <a:t>月</a:t>
            </a:r>
            <a:r>
              <a:rPr lang="en-US" altLang="ja-JP" sz="1600" dirty="0"/>
              <a:t>31</a:t>
            </a:r>
            <a:r>
              <a:rPr lang="ja-JP" altLang="en-US" sz="1600" dirty="0"/>
              <a:t>日に専決処分を行い</a:t>
            </a:r>
            <a:r>
              <a:rPr lang="en-US" altLang="ja-JP" sz="1600" dirty="0"/>
              <a:t>6</a:t>
            </a:r>
            <a:r>
              <a:rPr lang="ja-JP" altLang="en-US" sz="1600" dirty="0"/>
              <a:t>月議会にて承認可否の採決となることを、ご理解賜りますようお願いいたします。</a:t>
            </a:r>
            <a:endParaRPr kumimoji="1" lang="ja-JP" altLang="en-US" sz="1600" dirty="0"/>
          </a:p>
        </p:txBody>
      </p:sp>
      <p:sp>
        <p:nvSpPr>
          <p:cNvPr id="7" name="テキスト ボックス 6">
            <a:extLst>
              <a:ext uri="{FF2B5EF4-FFF2-40B4-BE49-F238E27FC236}">
                <a16:creationId xmlns:a16="http://schemas.microsoft.com/office/drawing/2014/main" id="{EF58C51A-A406-44C2-90CC-FA51F6F794DE}"/>
              </a:ext>
            </a:extLst>
          </p:cNvPr>
          <p:cNvSpPr txBox="1"/>
          <p:nvPr/>
        </p:nvSpPr>
        <p:spPr>
          <a:xfrm>
            <a:off x="569976" y="4919046"/>
            <a:ext cx="11201400" cy="1692771"/>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2000" dirty="0">
                <a:latin typeface="ＭＳ ゴシック" panose="020B0609070205080204" pitchFamily="49" charset="-128"/>
                <a:ea typeface="ＭＳ ゴシック" panose="020B0609070205080204" pitchFamily="49" charset="-128"/>
              </a:rPr>
              <a:t>●税率改定</a:t>
            </a:r>
            <a:endParaRPr lang="en-US" altLang="ja-JP" sz="2000" dirty="0">
              <a:latin typeface="ＭＳ ゴシック" panose="020B0609070205080204" pitchFamily="49" charset="-128"/>
              <a:ea typeface="ＭＳ ゴシック" panose="020B0609070205080204" pitchFamily="49" charset="-128"/>
            </a:endParaRPr>
          </a:p>
          <a:p>
            <a:r>
              <a:rPr kumimoji="1" lang="ja-JP" altLang="en-US" sz="1400" dirty="0"/>
              <a:t>　</a:t>
            </a:r>
            <a:r>
              <a:rPr lang="ja-JP" altLang="en-US" sz="1400" dirty="0"/>
              <a:t>子ども・子育て支援金の税率は高知県の標準保険料率を参考に、所得割</a:t>
            </a:r>
            <a:r>
              <a:rPr lang="en-US" altLang="ja-JP" sz="1400" dirty="0"/>
              <a:t>0.26</a:t>
            </a:r>
            <a:r>
              <a:rPr lang="ja-JP" altLang="en-US" sz="1400" dirty="0"/>
              <a:t>％、均等割</a:t>
            </a:r>
            <a:r>
              <a:rPr lang="en-US" altLang="ja-JP" sz="1400" dirty="0"/>
              <a:t>1800</a:t>
            </a:r>
            <a:r>
              <a:rPr lang="ja-JP" altLang="en-US" sz="1400" dirty="0"/>
              <a:t>円、賦課限度額</a:t>
            </a:r>
            <a:r>
              <a:rPr lang="en-US" altLang="ja-JP" sz="1400" dirty="0"/>
              <a:t>3</a:t>
            </a:r>
            <a:r>
              <a:rPr lang="ja-JP" altLang="en-US" sz="1400"/>
              <a:t>万円に</a:t>
            </a:r>
            <a:r>
              <a:rPr lang="ja-JP" altLang="en-US" sz="1400" dirty="0"/>
              <a:t>設定しました。</a:t>
            </a:r>
            <a:endParaRPr lang="en-US" altLang="ja-JP" sz="1400" dirty="0"/>
          </a:p>
          <a:p>
            <a:r>
              <a:rPr kumimoji="1" lang="ja-JP" altLang="en-US" sz="1400" dirty="0"/>
              <a:t>　令和</a:t>
            </a:r>
            <a:r>
              <a:rPr kumimoji="1" lang="en-US" altLang="ja-JP" sz="1400" dirty="0"/>
              <a:t>8</a:t>
            </a:r>
            <a:r>
              <a:rPr kumimoji="1" lang="ja-JP" altLang="en-US" sz="1400" dirty="0"/>
              <a:t>年</a:t>
            </a:r>
            <a:r>
              <a:rPr kumimoji="1" lang="en-US" altLang="ja-JP" sz="1400" dirty="0"/>
              <a:t>2</a:t>
            </a:r>
            <a:r>
              <a:rPr kumimoji="1" lang="ja-JP" altLang="en-US" sz="1400" dirty="0"/>
              <a:t>月</a:t>
            </a:r>
            <a:r>
              <a:rPr kumimoji="1" lang="en-US" altLang="ja-JP" sz="1400" dirty="0"/>
              <a:t>9</a:t>
            </a:r>
            <a:r>
              <a:rPr kumimoji="1" lang="ja-JP" altLang="en-US" sz="1400" dirty="0"/>
              <a:t>日開催南国市国民健康保険運営協議会において、令和</a:t>
            </a:r>
            <a:r>
              <a:rPr kumimoji="1" lang="en-US" altLang="ja-JP" sz="1400" dirty="0"/>
              <a:t>8</a:t>
            </a:r>
            <a:r>
              <a:rPr kumimoji="1" lang="ja-JP" altLang="en-US" sz="1400" dirty="0"/>
              <a:t>年から開始する子ども・子育て支援金制度及び令和</a:t>
            </a:r>
            <a:r>
              <a:rPr kumimoji="1" lang="en-US" altLang="ja-JP" sz="1400" dirty="0"/>
              <a:t>12</a:t>
            </a:r>
            <a:r>
              <a:rPr kumimoji="1" lang="ja-JP" altLang="en-US" sz="1400" dirty="0"/>
              <a:t>年度国保料（税）高知県統一化後の姿、南国市国民健康保険事業財政調整基金の残高及び将来見通し等</a:t>
            </a:r>
            <a:r>
              <a:rPr lang="ja-JP" altLang="en-US" sz="1400" dirty="0"/>
              <a:t>をふまえた南国市国民健康保険税率改定について、事務局より</a:t>
            </a:r>
            <a:r>
              <a:rPr lang="en-US" altLang="ja-JP" sz="1400" dirty="0"/>
              <a:t>A</a:t>
            </a:r>
            <a:r>
              <a:rPr lang="ja-JP" altLang="en-US" sz="1400" dirty="0"/>
              <a:t>案・</a:t>
            </a:r>
            <a:r>
              <a:rPr lang="en-US" altLang="ja-JP" sz="1400" dirty="0"/>
              <a:t>B</a:t>
            </a:r>
            <a:r>
              <a:rPr lang="ja-JP" altLang="en-US" sz="1400" dirty="0"/>
              <a:t>案・</a:t>
            </a:r>
            <a:r>
              <a:rPr lang="en-US" altLang="ja-JP" sz="1400" dirty="0"/>
              <a:t>C</a:t>
            </a:r>
            <a:r>
              <a:rPr lang="ja-JP" altLang="en-US" sz="1400" dirty="0"/>
              <a:t>案のメリット／デメリットを説明したのち委員に審議していただきました（裏面参照）。</a:t>
            </a:r>
            <a:endParaRPr kumimoji="1" lang="en-US" altLang="ja-JP" sz="1400" dirty="0"/>
          </a:p>
          <a:p>
            <a:r>
              <a:rPr kumimoji="1" lang="ja-JP" altLang="en-US" sz="1400" dirty="0"/>
              <a:t>　審議の結果、令和</a:t>
            </a:r>
            <a:r>
              <a:rPr kumimoji="1" lang="en-US" altLang="ja-JP" sz="1400" dirty="0"/>
              <a:t>7</a:t>
            </a:r>
            <a:r>
              <a:rPr kumimoji="1" lang="ja-JP" altLang="en-US" sz="1400" dirty="0"/>
              <a:t>年度国保税の税率はかえずに新たに</a:t>
            </a:r>
            <a:r>
              <a:rPr lang="ja-JP" altLang="en-US" sz="1400" dirty="0"/>
              <a:t>子ども・子育て支援金を加算する</a:t>
            </a:r>
            <a:r>
              <a:rPr lang="en-US" altLang="ja-JP" sz="1400" dirty="0"/>
              <a:t>B</a:t>
            </a:r>
            <a:r>
              <a:rPr lang="ja-JP" altLang="en-US" sz="1400" dirty="0"/>
              <a:t>案が採択・答申されました</a:t>
            </a:r>
            <a:endParaRPr lang="en-US" altLang="ja-JP" sz="1400" dirty="0"/>
          </a:p>
          <a:p>
            <a:r>
              <a:rPr kumimoji="1" lang="ja-JP" altLang="en-US" sz="1400" dirty="0"/>
              <a:t>　南国市国民健康保険条例改正後は、被保険者一人当たり平均</a:t>
            </a:r>
            <a:r>
              <a:rPr kumimoji="1" lang="en-US" altLang="ja-JP" sz="1400" dirty="0"/>
              <a:t>3300</a:t>
            </a:r>
            <a:r>
              <a:rPr kumimoji="1" lang="ja-JP" altLang="en-US" sz="1400" dirty="0"/>
              <a:t>円／年の子ども・子育て支援金が賦課されることになります。</a:t>
            </a:r>
          </a:p>
        </p:txBody>
      </p:sp>
      <p:sp>
        <p:nvSpPr>
          <p:cNvPr id="8" name="テキスト ボックス 7">
            <a:extLst>
              <a:ext uri="{FF2B5EF4-FFF2-40B4-BE49-F238E27FC236}">
                <a16:creationId xmlns:a16="http://schemas.microsoft.com/office/drawing/2014/main" id="{7261057F-4E4F-49FD-8313-C51FDA38C291}"/>
              </a:ext>
            </a:extLst>
          </p:cNvPr>
          <p:cNvSpPr txBox="1"/>
          <p:nvPr/>
        </p:nvSpPr>
        <p:spPr>
          <a:xfrm>
            <a:off x="10270236" y="-16561"/>
            <a:ext cx="2029968" cy="246221"/>
          </a:xfrm>
          <a:prstGeom prst="rect">
            <a:avLst/>
          </a:prstGeom>
          <a:noFill/>
        </p:spPr>
        <p:txBody>
          <a:bodyPr wrap="square" rtlCol="0">
            <a:spAutoFit/>
          </a:bodyPr>
          <a:lstStyle/>
          <a:p>
            <a:r>
              <a:rPr kumimoji="1" lang="en-US" altLang="ja-JP" sz="1000" dirty="0">
                <a:latin typeface="ＭＳ 明朝" panose="02020609040205080304" pitchFamily="17" charset="-128"/>
                <a:ea typeface="ＭＳ 明朝" panose="02020609040205080304" pitchFamily="17" charset="-128"/>
              </a:rPr>
              <a:t>R8.2.24</a:t>
            </a:r>
            <a:r>
              <a:rPr kumimoji="1" lang="ja-JP" altLang="en-US" sz="1000" dirty="0">
                <a:latin typeface="ＭＳ 明朝" panose="02020609040205080304" pitchFamily="17" charset="-128"/>
                <a:ea typeface="ＭＳ 明朝" panose="02020609040205080304" pitchFamily="17" charset="-128"/>
              </a:rPr>
              <a:t>税務課</a:t>
            </a:r>
            <a:r>
              <a:rPr kumimoji="1" lang="en-US" altLang="ja-JP" sz="1000" dirty="0">
                <a:latin typeface="ＭＳ 明朝" panose="02020609040205080304" pitchFamily="17" charset="-128"/>
                <a:ea typeface="ＭＳ 明朝" panose="02020609040205080304" pitchFamily="17" charset="-128"/>
              </a:rPr>
              <a:t>/</a:t>
            </a:r>
            <a:r>
              <a:rPr kumimoji="1" lang="ja-JP" altLang="en-US" sz="1000" dirty="0">
                <a:latin typeface="ＭＳ 明朝" panose="02020609040205080304" pitchFamily="17" charset="-128"/>
                <a:ea typeface="ＭＳ 明朝" panose="02020609040205080304" pitchFamily="17" charset="-128"/>
              </a:rPr>
              <a:t>市民課説明資料</a:t>
            </a:r>
          </a:p>
        </p:txBody>
      </p:sp>
    </p:spTree>
    <p:extLst>
      <p:ext uri="{BB962C8B-B14F-4D97-AF65-F5344CB8AC3E}">
        <p14:creationId xmlns:p14="http://schemas.microsoft.com/office/powerpoint/2010/main" val="3468464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3">
            <a:extLst>
              <a:ext uri="{FF2B5EF4-FFF2-40B4-BE49-F238E27FC236}">
                <a16:creationId xmlns:a16="http://schemas.microsoft.com/office/drawing/2014/main" id="{E994A8FF-9977-4CAE-9F27-E4E040AC9B69}"/>
              </a:ext>
            </a:extLst>
          </p:cNvPr>
          <p:cNvGraphicFramePr>
            <a:graphicFrameLocks noGrp="1"/>
          </p:cNvGraphicFramePr>
          <p:nvPr>
            <p:extLst>
              <p:ext uri="{D42A27DB-BD31-4B8C-83A1-F6EECF244321}">
                <p14:modId xmlns:p14="http://schemas.microsoft.com/office/powerpoint/2010/main" val="526259999"/>
              </p:ext>
            </p:extLst>
          </p:nvPr>
        </p:nvGraphicFramePr>
        <p:xfrm>
          <a:off x="368520" y="183406"/>
          <a:ext cx="11089195" cy="2070228"/>
        </p:xfrm>
        <a:graphic>
          <a:graphicData uri="http://schemas.openxmlformats.org/drawingml/2006/table">
            <a:tbl>
              <a:tblPr firstRow="1" bandRow="1">
                <a:tableStyleId>{5C22544A-7EE6-4342-B048-85BDC9FD1C3A}</a:tableStyleId>
              </a:tblPr>
              <a:tblGrid>
                <a:gridCol w="1909896">
                  <a:extLst>
                    <a:ext uri="{9D8B030D-6E8A-4147-A177-3AD203B41FA5}">
                      <a16:colId xmlns:a16="http://schemas.microsoft.com/office/drawing/2014/main" val="20000"/>
                    </a:ext>
                  </a:extLst>
                </a:gridCol>
                <a:gridCol w="1165951">
                  <a:extLst>
                    <a:ext uri="{9D8B030D-6E8A-4147-A177-3AD203B41FA5}">
                      <a16:colId xmlns:a16="http://schemas.microsoft.com/office/drawing/2014/main" val="20001"/>
                    </a:ext>
                  </a:extLst>
                </a:gridCol>
                <a:gridCol w="1083326">
                  <a:extLst>
                    <a:ext uri="{9D8B030D-6E8A-4147-A177-3AD203B41FA5}">
                      <a16:colId xmlns:a16="http://schemas.microsoft.com/office/drawing/2014/main" val="20002"/>
                    </a:ext>
                  </a:extLst>
                </a:gridCol>
                <a:gridCol w="1074144">
                  <a:extLst>
                    <a:ext uri="{9D8B030D-6E8A-4147-A177-3AD203B41FA5}">
                      <a16:colId xmlns:a16="http://schemas.microsoft.com/office/drawing/2014/main" val="20003"/>
                    </a:ext>
                  </a:extLst>
                </a:gridCol>
                <a:gridCol w="1120049">
                  <a:extLst>
                    <a:ext uri="{9D8B030D-6E8A-4147-A177-3AD203B41FA5}">
                      <a16:colId xmlns:a16="http://schemas.microsoft.com/office/drawing/2014/main" val="20004"/>
                    </a:ext>
                  </a:extLst>
                </a:gridCol>
                <a:gridCol w="1193494">
                  <a:extLst>
                    <a:ext uri="{9D8B030D-6E8A-4147-A177-3AD203B41FA5}">
                      <a16:colId xmlns:a16="http://schemas.microsoft.com/office/drawing/2014/main" val="20005"/>
                    </a:ext>
                  </a:extLst>
                </a:gridCol>
                <a:gridCol w="1120048">
                  <a:extLst>
                    <a:ext uri="{9D8B030D-6E8A-4147-A177-3AD203B41FA5}">
                      <a16:colId xmlns:a16="http://schemas.microsoft.com/office/drawing/2014/main" val="20006"/>
                    </a:ext>
                  </a:extLst>
                </a:gridCol>
                <a:gridCol w="1178739">
                  <a:extLst>
                    <a:ext uri="{9D8B030D-6E8A-4147-A177-3AD203B41FA5}">
                      <a16:colId xmlns:a16="http://schemas.microsoft.com/office/drawing/2014/main" val="20007"/>
                    </a:ext>
                  </a:extLst>
                </a:gridCol>
                <a:gridCol w="1243548">
                  <a:extLst>
                    <a:ext uri="{9D8B030D-6E8A-4147-A177-3AD203B41FA5}">
                      <a16:colId xmlns:a16="http://schemas.microsoft.com/office/drawing/2014/main" val="20008"/>
                    </a:ext>
                  </a:extLst>
                </a:gridCol>
              </a:tblGrid>
              <a:tr h="0">
                <a:tc>
                  <a:txBody>
                    <a:bodyPr/>
                    <a:lstStyle/>
                    <a:p>
                      <a:endParaRPr kumimoji="1" lang="ja-JP" altLang="en-US" sz="800"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R7</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R8</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R9</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R10</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R11</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R12</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ja-JP" altLang="en-US" sz="1400" b="0" dirty="0">
                          <a:solidFill>
                            <a:schemeClr val="tx1"/>
                          </a:solidFill>
                        </a:rPr>
                        <a:t>基金残高</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83736">
                <a:tc>
                  <a:txBody>
                    <a:bodyPr/>
                    <a:lstStyle/>
                    <a:p>
                      <a:r>
                        <a:rPr kumimoji="1" lang="en-US" altLang="ja-JP" sz="1000" b="1" dirty="0">
                          <a:latin typeface="+mj-ea"/>
                          <a:ea typeface="+mj-ea"/>
                        </a:rPr>
                        <a:t>1</a:t>
                      </a:r>
                      <a:r>
                        <a:rPr kumimoji="1" lang="ja-JP" altLang="en-US" sz="1000" b="1" dirty="0">
                          <a:latin typeface="+mj-ea"/>
                          <a:ea typeface="+mj-ea"/>
                        </a:rPr>
                        <a:t>人当たり保険料（税）額</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128,551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133,251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137,951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142,651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147,880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6">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100" b="1" dirty="0">
                          <a:latin typeface="+mj-ea"/>
                          <a:ea typeface="+mj-ea"/>
                        </a:rPr>
                        <a:t>710,983,769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83464">
                <a:tc>
                  <a:txBody>
                    <a:bodyPr/>
                    <a:lstStyle/>
                    <a:p>
                      <a:r>
                        <a:rPr kumimoji="1" lang="ja-JP" altLang="en-US" sz="1000" b="1" dirty="0">
                          <a:latin typeface="+mj-ea"/>
                          <a:ea typeface="+mj-ea"/>
                        </a:rPr>
                        <a:t>保険料（税）上がり幅</a:t>
                      </a:r>
                      <a:endParaRPr kumimoji="1" lang="en-US" altLang="ja-JP" sz="1000" b="1" dirty="0">
                        <a:latin typeface="+mj-ea"/>
                        <a:ea typeface="+mj-ea"/>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4,700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r>
                        <a:rPr kumimoji="1" lang="en-US" altLang="ja-JP" sz="1100" b="1" dirty="0">
                          <a:latin typeface="+mj-ea"/>
                          <a:ea typeface="+mj-ea"/>
                        </a:rPr>
                        <a:t>4,700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r>
                        <a:rPr kumimoji="1" lang="en-US" altLang="ja-JP" sz="1100" b="1" dirty="0">
                          <a:latin typeface="+mj-ea"/>
                          <a:ea typeface="+mj-ea"/>
                        </a:rPr>
                        <a:t>4,700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r>
                        <a:rPr kumimoji="1" lang="en-US" altLang="ja-JP" sz="1100" b="1" dirty="0">
                          <a:latin typeface="+mj-ea"/>
                          <a:ea typeface="+mj-ea"/>
                        </a:rPr>
                        <a:t>4,700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r>
                        <a:rPr kumimoji="1" lang="en-US" altLang="ja-JP" sz="1100" b="1" dirty="0">
                          <a:latin typeface="+mj-ea"/>
                          <a:ea typeface="+mj-ea"/>
                        </a:rPr>
                        <a:t>5,229</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vMerge="1">
                  <a:txBody>
                    <a:bodyPr/>
                    <a:lstStyle/>
                    <a:p>
                      <a:endParaRPr kumimoji="1" lang="ja-JP" altLang="en-US" sz="1200" dirty="0"/>
                    </a:p>
                  </a:txBody>
                  <a:tcPr/>
                </a:tc>
                <a:extLst>
                  <a:ext uri="{0D108BD9-81ED-4DB2-BD59-A6C34878D82A}">
                    <a16:rowId xmlns:a16="http://schemas.microsoft.com/office/drawing/2014/main" val="10002"/>
                  </a:ext>
                </a:extLst>
              </a:tr>
              <a:tr h="127218">
                <a:tc>
                  <a:txBody>
                    <a:bodyPr/>
                    <a:lstStyle/>
                    <a:p>
                      <a:r>
                        <a:rPr kumimoji="1" lang="ja-JP" altLang="en-US" sz="1000" b="1" dirty="0">
                          <a:latin typeface="+mj-ea"/>
                          <a:ea typeface="+mj-ea"/>
                        </a:rPr>
                        <a:t>1人当たり保険料（税）額</a:t>
                      </a:r>
                    </a:p>
                    <a:p>
                      <a:r>
                        <a:rPr kumimoji="1" lang="ja-JP" altLang="en-US" sz="1000" b="1" dirty="0">
                          <a:latin typeface="+mj-ea"/>
                          <a:ea typeface="+mj-ea"/>
                        </a:rPr>
                        <a:t>（子ども・子育て支援金分）</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3,300＋α</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solidFill>
                      <a:schemeClr val="accent1">
                        <a:lumMod val="20000"/>
                        <a:lumOff val="80000"/>
                      </a:schemeClr>
                    </a:solidFill>
                  </a:tcPr>
                </a:tc>
                <a:extLst>
                  <a:ext uri="{0D108BD9-81ED-4DB2-BD59-A6C34878D82A}">
                    <a16:rowId xmlns:a16="http://schemas.microsoft.com/office/drawing/2014/main" val="10003"/>
                  </a:ext>
                </a:extLst>
              </a:tr>
              <a:tr h="259444">
                <a:tc>
                  <a:txBody>
                    <a:bodyPr/>
                    <a:lstStyle/>
                    <a:p>
                      <a:r>
                        <a:rPr kumimoji="1" lang="ja-JP" altLang="en-US" sz="1000" b="1" dirty="0">
                          <a:latin typeface="+mj-ea"/>
                          <a:ea typeface="+mj-ea"/>
                        </a:rPr>
                        <a:t>単年度収支</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88,834,161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74,209,000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54,428,716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58,997,952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62,836,283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65,903,365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kumimoji="1" lang="ja-JP" altLang="en-US" sz="1200" dirty="0"/>
                    </a:p>
                  </a:txBody>
                  <a:tcPr>
                    <a:solidFill>
                      <a:schemeClr val="accent1">
                        <a:lumMod val="20000"/>
                        <a:lumOff val="80000"/>
                      </a:schemeClr>
                    </a:solidFill>
                  </a:tcPr>
                </a:tc>
                <a:extLst>
                  <a:ext uri="{0D108BD9-81ED-4DB2-BD59-A6C34878D82A}">
                    <a16:rowId xmlns:a16="http://schemas.microsoft.com/office/drawing/2014/main" val="10004"/>
                  </a:ext>
                </a:extLst>
              </a:tr>
              <a:tr h="256032">
                <a:tc>
                  <a:txBody>
                    <a:bodyPr/>
                    <a:lstStyle/>
                    <a:p>
                      <a:r>
                        <a:rPr kumimoji="1" lang="ja-JP" altLang="en-US" sz="1000" b="1" dirty="0">
                          <a:latin typeface="+mj-ea"/>
                          <a:ea typeface="+mj-ea"/>
                        </a:rPr>
                        <a:t>基金保有額</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394,608,453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468,817,453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523,246,169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582,244,121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645,080,404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710,983,769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gn="r"/>
                      <a:endParaRPr kumimoji="1" lang="ja-JP" altLang="en-US" sz="1200" dirty="0"/>
                    </a:p>
                  </a:txBody>
                  <a:tcPr anchor="ctr">
                    <a:solidFill>
                      <a:schemeClr val="accent1">
                        <a:lumMod val="20000"/>
                        <a:lumOff val="80000"/>
                      </a:schemeClr>
                    </a:solid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nchor="ctr">
                    <a:solidFill>
                      <a:schemeClr val="accent1">
                        <a:lumMod val="20000"/>
                        <a:lumOff val="80000"/>
                      </a:schemeClr>
                    </a:solidFill>
                  </a:tcPr>
                </a:tc>
                <a:extLst>
                  <a:ext uri="{0D108BD9-81ED-4DB2-BD59-A6C34878D82A}">
                    <a16:rowId xmlns:a16="http://schemas.microsoft.com/office/drawing/2014/main" val="10005"/>
                  </a:ext>
                </a:extLst>
              </a:tr>
              <a:tr h="283464">
                <a:tc>
                  <a:txBody>
                    <a:bodyPr/>
                    <a:lstStyle/>
                    <a:p>
                      <a:r>
                        <a:rPr kumimoji="1" lang="ja-JP" altLang="en-US" sz="1000" b="1" dirty="0">
                          <a:latin typeface="+mj-ea"/>
                          <a:ea typeface="+mj-ea"/>
                        </a:rPr>
                        <a:t>被保険者数推計（年度平均）</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8,564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8,100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7,791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7,584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7,377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7,171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6,964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nchor="ctr"/>
                </a:tc>
                <a:extLst>
                  <a:ext uri="{0D108BD9-81ED-4DB2-BD59-A6C34878D82A}">
                    <a16:rowId xmlns:a16="http://schemas.microsoft.com/office/drawing/2014/main" val="10006"/>
                  </a:ext>
                </a:extLst>
              </a:tr>
            </a:tbl>
          </a:graphicData>
        </a:graphic>
      </p:graphicFrame>
      <p:graphicFrame>
        <p:nvGraphicFramePr>
          <p:cNvPr id="10" name="表 3">
            <a:extLst>
              <a:ext uri="{FF2B5EF4-FFF2-40B4-BE49-F238E27FC236}">
                <a16:creationId xmlns:a16="http://schemas.microsoft.com/office/drawing/2014/main" id="{1F1918CC-27D5-4208-853C-E4B0EA3E9117}"/>
              </a:ext>
            </a:extLst>
          </p:cNvPr>
          <p:cNvGraphicFramePr>
            <a:graphicFrameLocks noGrp="1"/>
          </p:cNvGraphicFramePr>
          <p:nvPr>
            <p:extLst>
              <p:ext uri="{D42A27DB-BD31-4B8C-83A1-F6EECF244321}">
                <p14:modId xmlns:p14="http://schemas.microsoft.com/office/powerpoint/2010/main" val="2704029061"/>
              </p:ext>
            </p:extLst>
          </p:nvPr>
        </p:nvGraphicFramePr>
        <p:xfrm>
          <a:off x="368519" y="2446980"/>
          <a:ext cx="11089195" cy="2070228"/>
        </p:xfrm>
        <a:graphic>
          <a:graphicData uri="http://schemas.openxmlformats.org/drawingml/2006/table">
            <a:tbl>
              <a:tblPr firstRow="1" bandRow="1">
                <a:tableStyleId>{5C22544A-7EE6-4342-B048-85BDC9FD1C3A}</a:tableStyleId>
              </a:tblPr>
              <a:tblGrid>
                <a:gridCol w="1909896">
                  <a:extLst>
                    <a:ext uri="{9D8B030D-6E8A-4147-A177-3AD203B41FA5}">
                      <a16:colId xmlns:a16="http://schemas.microsoft.com/office/drawing/2014/main" val="20000"/>
                    </a:ext>
                  </a:extLst>
                </a:gridCol>
                <a:gridCol w="1165951">
                  <a:extLst>
                    <a:ext uri="{9D8B030D-6E8A-4147-A177-3AD203B41FA5}">
                      <a16:colId xmlns:a16="http://schemas.microsoft.com/office/drawing/2014/main" val="20001"/>
                    </a:ext>
                  </a:extLst>
                </a:gridCol>
                <a:gridCol w="1083326">
                  <a:extLst>
                    <a:ext uri="{9D8B030D-6E8A-4147-A177-3AD203B41FA5}">
                      <a16:colId xmlns:a16="http://schemas.microsoft.com/office/drawing/2014/main" val="20002"/>
                    </a:ext>
                  </a:extLst>
                </a:gridCol>
                <a:gridCol w="1074144">
                  <a:extLst>
                    <a:ext uri="{9D8B030D-6E8A-4147-A177-3AD203B41FA5}">
                      <a16:colId xmlns:a16="http://schemas.microsoft.com/office/drawing/2014/main" val="20003"/>
                    </a:ext>
                  </a:extLst>
                </a:gridCol>
                <a:gridCol w="1120049">
                  <a:extLst>
                    <a:ext uri="{9D8B030D-6E8A-4147-A177-3AD203B41FA5}">
                      <a16:colId xmlns:a16="http://schemas.microsoft.com/office/drawing/2014/main" val="20004"/>
                    </a:ext>
                  </a:extLst>
                </a:gridCol>
                <a:gridCol w="1193494">
                  <a:extLst>
                    <a:ext uri="{9D8B030D-6E8A-4147-A177-3AD203B41FA5}">
                      <a16:colId xmlns:a16="http://schemas.microsoft.com/office/drawing/2014/main" val="20005"/>
                    </a:ext>
                  </a:extLst>
                </a:gridCol>
                <a:gridCol w="1120048">
                  <a:extLst>
                    <a:ext uri="{9D8B030D-6E8A-4147-A177-3AD203B41FA5}">
                      <a16:colId xmlns:a16="http://schemas.microsoft.com/office/drawing/2014/main" val="20006"/>
                    </a:ext>
                  </a:extLst>
                </a:gridCol>
                <a:gridCol w="1178739">
                  <a:extLst>
                    <a:ext uri="{9D8B030D-6E8A-4147-A177-3AD203B41FA5}">
                      <a16:colId xmlns:a16="http://schemas.microsoft.com/office/drawing/2014/main" val="20007"/>
                    </a:ext>
                  </a:extLst>
                </a:gridCol>
                <a:gridCol w="1243548">
                  <a:extLst>
                    <a:ext uri="{9D8B030D-6E8A-4147-A177-3AD203B41FA5}">
                      <a16:colId xmlns:a16="http://schemas.microsoft.com/office/drawing/2014/main" val="20008"/>
                    </a:ext>
                  </a:extLst>
                </a:gridCol>
              </a:tblGrid>
              <a:tr h="0">
                <a:tc>
                  <a:txBody>
                    <a:bodyPr/>
                    <a:lstStyle/>
                    <a:p>
                      <a:endParaRPr kumimoji="1" lang="ja-JP" altLang="en-US" sz="1400"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R7</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R8</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R9</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R10</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R11</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R12</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ja-JP" altLang="en-US" sz="1400" b="0" dirty="0">
                          <a:solidFill>
                            <a:schemeClr val="tx1"/>
                          </a:solidFill>
                        </a:rPr>
                        <a:t>基金残高</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83736">
                <a:tc>
                  <a:txBody>
                    <a:bodyPr/>
                    <a:lstStyle/>
                    <a:p>
                      <a:r>
                        <a:rPr kumimoji="1" lang="en-US" altLang="ja-JP" sz="1000" b="1" dirty="0">
                          <a:latin typeface="+mj-ea"/>
                          <a:ea typeface="+mj-ea"/>
                        </a:rPr>
                        <a:t>1</a:t>
                      </a:r>
                      <a:r>
                        <a:rPr kumimoji="1" lang="ja-JP" altLang="en-US" sz="1000" b="1" dirty="0">
                          <a:latin typeface="+mj-ea"/>
                          <a:ea typeface="+mj-ea"/>
                        </a:rPr>
                        <a:t>人当たり保険料（税）額</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147,880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6">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dirty="0">
                          <a:latin typeface="+mj-ea"/>
                          <a:ea typeface="+mj-ea"/>
                        </a:rPr>
                        <a:t>336,002,421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83464">
                <a:tc>
                  <a:txBody>
                    <a:bodyPr/>
                    <a:lstStyle/>
                    <a:p>
                      <a:r>
                        <a:rPr kumimoji="1" lang="ja-JP" altLang="en-US" sz="1000" b="1" dirty="0">
                          <a:latin typeface="+mj-ea"/>
                          <a:ea typeface="+mj-ea"/>
                        </a:rPr>
                        <a:t>保険料（税）上がり幅</a:t>
                      </a:r>
                      <a:endParaRPr kumimoji="1" lang="en-US" altLang="ja-JP" sz="1000" b="1" dirty="0">
                        <a:latin typeface="+mj-ea"/>
                        <a:ea typeface="+mj-ea"/>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r>
                        <a:rPr kumimoji="1" lang="en-US" altLang="ja-JP" sz="1100" b="1" dirty="0">
                          <a:latin typeface="+mj-ea"/>
                          <a:ea typeface="+mj-ea"/>
                        </a:rPr>
                        <a:t>23,753</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vMerge="1">
                  <a:txBody>
                    <a:bodyPr/>
                    <a:lstStyle/>
                    <a:p>
                      <a:endParaRPr kumimoji="1" lang="ja-JP" altLang="en-US" sz="1200" dirty="0"/>
                    </a:p>
                  </a:txBody>
                  <a:tcPr/>
                </a:tc>
                <a:extLst>
                  <a:ext uri="{0D108BD9-81ED-4DB2-BD59-A6C34878D82A}">
                    <a16:rowId xmlns:a16="http://schemas.microsoft.com/office/drawing/2014/main" val="10002"/>
                  </a:ext>
                </a:extLst>
              </a:tr>
              <a:tr h="258480">
                <a:tc>
                  <a:txBody>
                    <a:bodyPr/>
                    <a:lstStyle/>
                    <a:p>
                      <a:r>
                        <a:rPr kumimoji="1" lang="ja-JP" altLang="en-US" sz="1000" b="1" dirty="0">
                          <a:latin typeface="+mj-ea"/>
                          <a:ea typeface="+mj-ea"/>
                        </a:rPr>
                        <a:t>1人当たり保険料（税）額</a:t>
                      </a:r>
                    </a:p>
                    <a:p>
                      <a:r>
                        <a:rPr kumimoji="1" lang="ja-JP" altLang="en-US" sz="1000" b="1" dirty="0">
                          <a:latin typeface="+mj-ea"/>
                          <a:ea typeface="+mj-ea"/>
                        </a:rPr>
                        <a:t>（子ども・子育て支援金分）</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3,300＋α</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solidFill>
                      <a:schemeClr val="accent1">
                        <a:lumMod val="20000"/>
                        <a:lumOff val="80000"/>
                      </a:schemeClr>
                    </a:solidFill>
                  </a:tcPr>
                </a:tc>
                <a:extLst>
                  <a:ext uri="{0D108BD9-81ED-4DB2-BD59-A6C34878D82A}">
                    <a16:rowId xmlns:a16="http://schemas.microsoft.com/office/drawing/2014/main" val="10003"/>
                  </a:ext>
                </a:extLst>
              </a:tr>
              <a:tr h="259444">
                <a:tc>
                  <a:txBody>
                    <a:bodyPr/>
                    <a:lstStyle/>
                    <a:p>
                      <a:r>
                        <a:rPr kumimoji="1" lang="ja-JP" altLang="en-US" sz="1000" b="1" dirty="0">
                          <a:latin typeface="+mj-ea"/>
                          <a:ea typeface="+mj-ea"/>
                        </a:rPr>
                        <a:t>単年度収支</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88,834,161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74,209,000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17,850.000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‐17,992,334</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-50,304,382</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-82,368,315</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kumimoji="1" lang="ja-JP" altLang="en-US" sz="1200" dirty="0"/>
                    </a:p>
                  </a:txBody>
                  <a:tcPr>
                    <a:solidFill>
                      <a:schemeClr val="accent1">
                        <a:lumMod val="20000"/>
                        <a:lumOff val="80000"/>
                      </a:schemeClr>
                    </a:solidFill>
                  </a:tcPr>
                </a:tc>
                <a:extLst>
                  <a:ext uri="{0D108BD9-81ED-4DB2-BD59-A6C34878D82A}">
                    <a16:rowId xmlns:a16="http://schemas.microsoft.com/office/drawing/2014/main" val="10004"/>
                  </a:ext>
                </a:extLst>
              </a:tr>
              <a:tr h="256032">
                <a:tc>
                  <a:txBody>
                    <a:bodyPr/>
                    <a:lstStyle/>
                    <a:p>
                      <a:r>
                        <a:rPr kumimoji="1" lang="ja-JP" altLang="en-US" sz="1000" b="1" dirty="0">
                          <a:latin typeface="+mj-ea"/>
                          <a:ea typeface="+mj-ea"/>
                        </a:rPr>
                        <a:t>基金保有額</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394,608,453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468,817,453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486,667,453</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468,675,119</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418,370,737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336,002,421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gn="r"/>
                      <a:endParaRPr kumimoji="1" lang="ja-JP" altLang="en-US" sz="1200" dirty="0"/>
                    </a:p>
                  </a:txBody>
                  <a:tcPr anchor="ctr">
                    <a:solidFill>
                      <a:schemeClr val="accent1">
                        <a:lumMod val="20000"/>
                        <a:lumOff val="80000"/>
                      </a:schemeClr>
                    </a:solid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nchor="ctr">
                    <a:solidFill>
                      <a:schemeClr val="accent1">
                        <a:lumMod val="20000"/>
                        <a:lumOff val="80000"/>
                      </a:schemeClr>
                    </a:solidFill>
                  </a:tcPr>
                </a:tc>
                <a:extLst>
                  <a:ext uri="{0D108BD9-81ED-4DB2-BD59-A6C34878D82A}">
                    <a16:rowId xmlns:a16="http://schemas.microsoft.com/office/drawing/2014/main" val="10005"/>
                  </a:ext>
                </a:extLst>
              </a:tr>
              <a:tr h="283464">
                <a:tc>
                  <a:txBody>
                    <a:bodyPr/>
                    <a:lstStyle/>
                    <a:p>
                      <a:r>
                        <a:rPr kumimoji="1" lang="ja-JP" altLang="en-US" sz="1000" b="1" dirty="0">
                          <a:latin typeface="+mj-ea"/>
                          <a:ea typeface="+mj-ea"/>
                        </a:rPr>
                        <a:t>被保険者数推計（年度平均）</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8,564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8,100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7,791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7,584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7,377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7,171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6,964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nchor="ctr"/>
                </a:tc>
                <a:extLst>
                  <a:ext uri="{0D108BD9-81ED-4DB2-BD59-A6C34878D82A}">
                    <a16:rowId xmlns:a16="http://schemas.microsoft.com/office/drawing/2014/main" val="10006"/>
                  </a:ext>
                </a:extLst>
              </a:tr>
            </a:tbl>
          </a:graphicData>
        </a:graphic>
      </p:graphicFrame>
      <p:graphicFrame>
        <p:nvGraphicFramePr>
          <p:cNvPr id="11" name="表 3">
            <a:extLst>
              <a:ext uri="{FF2B5EF4-FFF2-40B4-BE49-F238E27FC236}">
                <a16:creationId xmlns:a16="http://schemas.microsoft.com/office/drawing/2014/main" id="{CA9EBA9C-EC22-4BEF-9170-8377ED6FEF75}"/>
              </a:ext>
            </a:extLst>
          </p:cNvPr>
          <p:cNvGraphicFramePr>
            <a:graphicFrameLocks noGrp="1"/>
          </p:cNvGraphicFramePr>
          <p:nvPr>
            <p:extLst>
              <p:ext uri="{D42A27DB-BD31-4B8C-83A1-F6EECF244321}">
                <p14:modId xmlns:p14="http://schemas.microsoft.com/office/powerpoint/2010/main" val="347650438"/>
              </p:ext>
            </p:extLst>
          </p:nvPr>
        </p:nvGraphicFramePr>
        <p:xfrm>
          <a:off x="368519" y="4728470"/>
          <a:ext cx="11089195" cy="2070228"/>
        </p:xfrm>
        <a:graphic>
          <a:graphicData uri="http://schemas.openxmlformats.org/drawingml/2006/table">
            <a:tbl>
              <a:tblPr firstRow="1" bandRow="1">
                <a:tableStyleId>{5C22544A-7EE6-4342-B048-85BDC9FD1C3A}</a:tableStyleId>
              </a:tblPr>
              <a:tblGrid>
                <a:gridCol w="1909896">
                  <a:extLst>
                    <a:ext uri="{9D8B030D-6E8A-4147-A177-3AD203B41FA5}">
                      <a16:colId xmlns:a16="http://schemas.microsoft.com/office/drawing/2014/main" val="20000"/>
                    </a:ext>
                  </a:extLst>
                </a:gridCol>
                <a:gridCol w="1165951">
                  <a:extLst>
                    <a:ext uri="{9D8B030D-6E8A-4147-A177-3AD203B41FA5}">
                      <a16:colId xmlns:a16="http://schemas.microsoft.com/office/drawing/2014/main" val="20001"/>
                    </a:ext>
                  </a:extLst>
                </a:gridCol>
                <a:gridCol w="1083326">
                  <a:extLst>
                    <a:ext uri="{9D8B030D-6E8A-4147-A177-3AD203B41FA5}">
                      <a16:colId xmlns:a16="http://schemas.microsoft.com/office/drawing/2014/main" val="20002"/>
                    </a:ext>
                  </a:extLst>
                </a:gridCol>
                <a:gridCol w="1074144">
                  <a:extLst>
                    <a:ext uri="{9D8B030D-6E8A-4147-A177-3AD203B41FA5}">
                      <a16:colId xmlns:a16="http://schemas.microsoft.com/office/drawing/2014/main" val="20003"/>
                    </a:ext>
                  </a:extLst>
                </a:gridCol>
                <a:gridCol w="1120049">
                  <a:extLst>
                    <a:ext uri="{9D8B030D-6E8A-4147-A177-3AD203B41FA5}">
                      <a16:colId xmlns:a16="http://schemas.microsoft.com/office/drawing/2014/main" val="20004"/>
                    </a:ext>
                  </a:extLst>
                </a:gridCol>
                <a:gridCol w="1193494">
                  <a:extLst>
                    <a:ext uri="{9D8B030D-6E8A-4147-A177-3AD203B41FA5}">
                      <a16:colId xmlns:a16="http://schemas.microsoft.com/office/drawing/2014/main" val="20005"/>
                    </a:ext>
                  </a:extLst>
                </a:gridCol>
                <a:gridCol w="1120048">
                  <a:extLst>
                    <a:ext uri="{9D8B030D-6E8A-4147-A177-3AD203B41FA5}">
                      <a16:colId xmlns:a16="http://schemas.microsoft.com/office/drawing/2014/main" val="20006"/>
                    </a:ext>
                  </a:extLst>
                </a:gridCol>
                <a:gridCol w="1178739">
                  <a:extLst>
                    <a:ext uri="{9D8B030D-6E8A-4147-A177-3AD203B41FA5}">
                      <a16:colId xmlns:a16="http://schemas.microsoft.com/office/drawing/2014/main" val="20007"/>
                    </a:ext>
                  </a:extLst>
                </a:gridCol>
                <a:gridCol w="1243548">
                  <a:extLst>
                    <a:ext uri="{9D8B030D-6E8A-4147-A177-3AD203B41FA5}">
                      <a16:colId xmlns:a16="http://schemas.microsoft.com/office/drawing/2014/main" val="20008"/>
                    </a:ext>
                  </a:extLst>
                </a:gridCol>
              </a:tblGrid>
              <a:tr h="197990">
                <a:tc>
                  <a:txBody>
                    <a:bodyPr/>
                    <a:lstStyle/>
                    <a:p>
                      <a:endParaRPr kumimoji="1" lang="ja-JP" altLang="en-US" sz="1400"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R7</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R8</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R9</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R10</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R11</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en-US" altLang="ja-JP" sz="1400" b="0" dirty="0">
                          <a:solidFill>
                            <a:schemeClr val="tx1"/>
                          </a:solidFill>
                        </a:rPr>
                        <a:t>R12</a:t>
                      </a:r>
                      <a:endParaRPr kumimoji="1" lang="ja-JP" altLang="en-US" sz="1400" b="0" dirty="0">
                        <a:solidFill>
                          <a:schemeClr val="tx1"/>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kumimoji="1" lang="ja-JP" altLang="en-US" sz="1400" b="0" dirty="0">
                          <a:solidFill>
                            <a:schemeClr val="tx1"/>
                          </a:solidFill>
                        </a:rPr>
                        <a:t>基金残高</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83736">
                <a:tc>
                  <a:txBody>
                    <a:bodyPr/>
                    <a:lstStyle/>
                    <a:p>
                      <a:r>
                        <a:rPr kumimoji="1" lang="en-US" altLang="ja-JP" sz="1000" b="1" dirty="0">
                          <a:latin typeface="+mj-ea"/>
                          <a:ea typeface="+mj-ea"/>
                        </a:rPr>
                        <a:t>1</a:t>
                      </a:r>
                      <a:r>
                        <a:rPr kumimoji="1" lang="ja-JP" altLang="en-US" sz="1000" b="1" dirty="0">
                          <a:latin typeface="+mj-ea"/>
                          <a:ea typeface="+mj-ea"/>
                        </a:rPr>
                        <a:t>人当たり保険料（税）額</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124,127</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147,880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6">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dirty="0">
                          <a:latin typeface="+mj-ea"/>
                          <a:ea typeface="+mj-ea"/>
                        </a:rPr>
                        <a:t>234,009,994</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283464">
                <a:tc>
                  <a:txBody>
                    <a:bodyPr/>
                    <a:lstStyle/>
                    <a:p>
                      <a:r>
                        <a:rPr kumimoji="1" lang="ja-JP" altLang="en-US" sz="1000" b="1" dirty="0">
                          <a:latin typeface="+mj-ea"/>
                          <a:ea typeface="+mj-ea"/>
                        </a:rPr>
                        <a:t>保険料（税）上がり幅</a:t>
                      </a:r>
                      <a:endParaRPr kumimoji="1" lang="en-US" altLang="ja-JP" sz="1000" b="1" dirty="0">
                        <a:latin typeface="+mj-ea"/>
                        <a:ea typeface="+mj-ea"/>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r"/>
                      <a:r>
                        <a:rPr kumimoji="1" lang="en-US" altLang="ja-JP" sz="1100" b="1" dirty="0">
                          <a:latin typeface="+mj-ea"/>
                          <a:ea typeface="+mj-ea"/>
                        </a:rPr>
                        <a:t>23,753</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vMerge="1">
                  <a:txBody>
                    <a:bodyPr/>
                    <a:lstStyle/>
                    <a:p>
                      <a:endParaRPr kumimoji="1" lang="ja-JP" altLang="en-US" sz="1200" dirty="0"/>
                    </a:p>
                  </a:txBody>
                  <a:tcPr/>
                </a:tc>
                <a:extLst>
                  <a:ext uri="{0D108BD9-81ED-4DB2-BD59-A6C34878D82A}">
                    <a16:rowId xmlns:a16="http://schemas.microsoft.com/office/drawing/2014/main" val="10002"/>
                  </a:ext>
                </a:extLst>
              </a:tr>
              <a:tr h="270870">
                <a:tc>
                  <a:txBody>
                    <a:bodyPr/>
                    <a:lstStyle/>
                    <a:p>
                      <a:r>
                        <a:rPr kumimoji="1" lang="ja-JP" altLang="en-US" sz="1000" b="1" dirty="0">
                          <a:latin typeface="+mj-ea"/>
                          <a:ea typeface="+mj-ea"/>
                        </a:rPr>
                        <a:t>1人当たり保険料（税）額</a:t>
                      </a:r>
                    </a:p>
                    <a:p>
                      <a:r>
                        <a:rPr kumimoji="1" lang="ja-JP" altLang="en-US" sz="1000" b="1" dirty="0">
                          <a:latin typeface="+mj-ea"/>
                          <a:ea typeface="+mj-ea"/>
                        </a:rPr>
                        <a:t>（子ども・子育て支援金分）</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endPar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dirty="0">
                          <a:ln>
                            <a:noFill/>
                          </a:ln>
                          <a:solidFill>
                            <a:prstClr val="black"/>
                          </a:solidFill>
                          <a:effectLst/>
                          <a:uLnTx/>
                          <a:uFillTx/>
                          <a:latin typeface="游ゴシック Light" panose="020B0300000000000000" pitchFamily="50" charset="-128"/>
                          <a:ea typeface="游ゴシック Light" panose="020B0300000000000000" pitchFamily="50" charset="-128"/>
                          <a:cs typeface="+mn-cs"/>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a:txBody>
                    <a:bodyPr/>
                    <a:lstStyle/>
                    <a:p>
                      <a:pPr algn="r"/>
                      <a:r>
                        <a:rPr kumimoji="1" lang="ja-JP" altLang="en-US" sz="1100" b="1" dirty="0">
                          <a:latin typeface="+mj-ea"/>
                          <a:ea typeface="+mj-ea"/>
                        </a:rPr>
                        <a:t>県の統一保険料</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0D7F0"/>
                    </a:solid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solidFill>
                      <a:schemeClr val="accent1">
                        <a:lumMod val="20000"/>
                        <a:lumOff val="80000"/>
                      </a:schemeClr>
                    </a:solidFill>
                  </a:tcPr>
                </a:tc>
                <a:extLst>
                  <a:ext uri="{0D108BD9-81ED-4DB2-BD59-A6C34878D82A}">
                    <a16:rowId xmlns:a16="http://schemas.microsoft.com/office/drawing/2014/main" val="10003"/>
                  </a:ext>
                </a:extLst>
              </a:tr>
              <a:tr h="259444">
                <a:tc>
                  <a:txBody>
                    <a:bodyPr/>
                    <a:lstStyle/>
                    <a:p>
                      <a:r>
                        <a:rPr kumimoji="1" lang="ja-JP" altLang="en-US" sz="1000" b="1" dirty="0">
                          <a:latin typeface="+mj-ea"/>
                          <a:ea typeface="+mj-ea"/>
                        </a:rPr>
                        <a:t>単年度収支</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88,834,161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74,209,000</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-11,106,828</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‐43,019,534</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-74,648,482</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-106,032,615</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kumimoji="1" lang="ja-JP" altLang="en-US" sz="1200" dirty="0"/>
                    </a:p>
                  </a:txBody>
                  <a:tcPr>
                    <a:solidFill>
                      <a:schemeClr val="accent1">
                        <a:lumMod val="20000"/>
                        <a:lumOff val="80000"/>
                      </a:schemeClr>
                    </a:solidFill>
                  </a:tcPr>
                </a:tc>
                <a:extLst>
                  <a:ext uri="{0D108BD9-81ED-4DB2-BD59-A6C34878D82A}">
                    <a16:rowId xmlns:a16="http://schemas.microsoft.com/office/drawing/2014/main" val="10004"/>
                  </a:ext>
                </a:extLst>
              </a:tr>
              <a:tr h="256032">
                <a:tc>
                  <a:txBody>
                    <a:bodyPr/>
                    <a:lstStyle/>
                    <a:p>
                      <a:r>
                        <a:rPr kumimoji="1" lang="ja-JP" altLang="en-US" sz="1000" b="1" dirty="0">
                          <a:latin typeface="+mj-ea"/>
                          <a:ea typeface="+mj-ea"/>
                        </a:rPr>
                        <a:t>基金保有額</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394,608,453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468,817,453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457,710,625</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414,691,091</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340,042,609</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en-US" altLang="ja-JP" sz="1100" b="1" dirty="0">
                          <a:latin typeface="+mj-ea"/>
                          <a:ea typeface="+mj-ea"/>
                        </a:rPr>
                        <a:t>234,009,994</a:t>
                      </a:r>
                      <a:endParaRPr kumimoji="1" lang="ja-JP" altLang="en-US" sz="1100" b="1" dirty="0">
                        <a:latin typeface="+mj-ea"/>
                        <a:ea typeface="+mj-ea"/>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gn="r"/>
                      <a:endParaRPr kumimoji="1" lang="ja-JP" altLang="en-US" sz="1200" dirty="0"/>
                    </a:p>
                  </a:txBody>
                  <a:tcPr anchor="ctr">
                    <a:solidFill>
                      <a:schemeClr val="accent1">
                        <a:lumMod val="20000"/>
                        <a:lumOff val="80000"/>
                      </a:schemeClr>
                    </a:solid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nchor="ctr">
                    <a:solidFill>
                      <a:schemeClr val="accent1">
                        <a:lumMod val="20000"/>
                        <a:lumOff val="80000"/>
                      </a:schemeClr>
                    </a:solidFill>
                  </a:tcPr>
                </a:tc>
                <a:extLst>
                  <a:ext uri="{0D108BD9-81ED-4DB2-BD59-A6C34878D82A}">
                    <a16:rowId xmlns:a16="http://schemas.microsoft.com/office/drawing/2014/main" val="10005"/>
                  </a:ext>
                </a:extLst>
              </a:tr>
              <a:tr h="283464">
                <a:tc>
                  <a:txBody>
                    <a:bodyPr/>
                    <a:lstStyle/>
                    <a:p>
                      <a:r>
                        <a:rPr kumimoji="1" lang="ja-JP" altLang="en-US" sz="1000" b="1" dirty="0">
                          <a:latin typeface="+mj-ea"/>
                          <a:ea typeface="+mj-ea"/>
                        </a:rPr>
                        <a:t>被保険者数推計（年度平均）</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8,564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8,100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7,791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7,584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7,377</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7,171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r>
                        <a:rPr kumimoji="1" lang="ja-JP" altLang="en-US" sz="1100" b="1" dirty="0">
                          <a:latin typeface="+mj-ea"/>
                          <a:ea typeface="+mj-ea"/>
                        </a:rPr>
                        <a:t>6,964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200" dirty="0"/>
                    </a:p>
                  </a:txBody>
                  <a:tcPr anchor="ctr"/>
                </a:tc>
                <a:extLst>
                  <a:ext uri="{0D108BD9-81ED-4DB2-BD59-A6C34878D82A}">
                    <a16:rowId xmlns:a16="http://schemas.microsoft.com/office/drawing/2014/main" val="10006"/>
                  </a:ext>
                </a:extLst>
              </a:tr>
            </a:tbl>
          </a:graphicData>
        </a:graphic>
      </p:graphicFrame>
      <p:sp>
        <p:nvSpPr>
          <p:cNvPr id="12" name="タイトル 1">
            <a:extLst>
              <a:ext uri="{FF2B5EF4-FFF2-40B4-BE49-F238E27FC236}">
                <a16:creationId xmlns:a16="http://schemas.microsoft.com/office/drawing/2014/main" id="{FF5D8493-DFF7-4166-B308-537C152C3789}"/>
              </a:ext>
            </a:extLst>
          </p:cNvPr>
          <p:cNvSpPr txBox="1"/>
          <p:nvPr/>
        </p:nvSpPr>
        <p:spPr>
          <a:xfrm>
            <a:off x="505681" y="4746758"/>
            <a:ext cx="1533431" cy="362582"/>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400" b="1" dirty="0">
                <a:solidFill>
                  <a:schemeClr val="tx1"/>
                </a:solidFill>
                <a:highlight>
                  <a:srgbClr val="FFFF00"/>
                </a:highlight>
                <a:latin typeface="Meiryo UI"/>
                <a:ea typeface="Meiryo UI"/>
              </a:rPr>
              <a:t>●税率改定案</a:t>
            </a:r>
            <a:r>
              <a:rPr lang="en-US" altLang="ja-JP" sz="1400" b="1" dirty="0">
                <a:solidFill>
                  <a:schemeClr val="tx1"/>
                </a:solidFill>
                <a:highlight>
                  <a:srgbClr val="FFFF00"/>
                </a:highlight>
                <a:latin typeface="Meiryo UI"/>
                <a:ea typeface="Meiryo UI"/>
              </a:rPr>
              <a:t>©</a:t>
            </a:r>
            <a:endParaRPr lang="en-US" altLang="ja-JP" sz="1400" b="1" dirty="0"/>
          </a:p>
          <a:p>
            <a:endParaRPr lang="en-US" altLang="ja-JP" sz="1600" b="1" dirty="0"/>
          </a:p>
          <a:p>
            <a:endParaRPr lang="en-US" altLang="ja-JP" sz="2000" b="1" dirty="0"/>
          </a:p>
          <a:p>
            <a:endParaRPr lang="en-US" altLang="ja-JP" sz="2000" b="1" dirty="0"/>
          </a:p>
        </p:txBody>
      </p:sp>
      <p:sp>
        <p:nvSpPr>
          <p:cNvPr id="13" name="テキスト ボックス 12">
            <a:extLst>
              <a:ext uri="{FF2B5EF4-FFF2-40B4-BE49-F238E27FC236}">
                <a16:creationId xmlns:a16="http://schemas.microsoft.com/office/drawing/2014/main" id="{D22CC7D2-6EE9-4CDD-A95C-EE0F8F4D00E5}"/>
              </a:ext>
            </a:extLst>
          </p:cNvPr>
          <p:cNvSpPr txBox="1"/>
          <p:nvPr/>
        </p:nvSpPr>
        <p:spPr>
          <a:xfrm>
            <a:off x="245377" y="2429442"/>
            <a:ext cx="1656575" cy="369332"/>
          </a:xfrm>
          <a:prstGeom prst="rect">
            <a:avLst/>
          </a:prstGeom>
          <a:noFill/>
        </p:spPr>
        <p:txBody>
          <a:bodyPr wrap="square">
            <a:spAutoFit/>
          </a:bodyPr>
          <a:lstStyle/>
          <a:p>
            <a:r>
              <a:rPr lang="ja-JP" altLang="en-US" sz="1800" b="1" dirty="0"/>
              <a:t>　</a:t>
            </a:r>
            <a:r>
              <a:rPr lang="ja-JP" altLang="en-US" sz="1400" b="1" dirty="0">
                <a:solidFill>
                  <a:schemeClr val="tx1"/>
                </a:solidFill>
                <a:highlight>
                  <a:srgbClr val="FFFF00"/>
                </a:highlight>
                <a:latin typeface="Meiryo UI"/>
                <a:ea typeface="Meiryo UI"/>
              </a:rPr>
              <a:t>●税率改定案Ⓑ</a:t>
            </a:r>
          </a:p>
        </p:txBody>
      </p:sp>
      <p:sp>
        <p:nvSpPr>
          <p:cNvPr id="14" name="タイトル 1">
            <a:extLst>
              <a:ext uri="{FF2B5EF4-FFF2-40B4-BE49-F238E27FC236}">
                <a16:creationId xmlns:a16="http://schemas.microsoft.com/office/drawing/2014/main" id="{AD0FB01B-DE09-4C01-B8CA-B435D5234BB2}"/>
              </a:ext>
            </a:extLst>
          </p:cNvPr>
          <p:cNvSpPr txBox="1"/>
          <p:nvPr/>
        </p:nvSpPr>
        <p:spPr>
          <a:xfrm>
            <a:off x="281953" y="203252"/>
            <a:ext cx="1775447" cy="330914"/>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t>　</a:t>
            </a:r>
            <a:r>
              <a:rPr lang="ja-JP" altLang="en-US" sz="1400" b="1" dirty="0">
                <a:solidFill>
                  <a:schemeClr val="tx1"/>
                </a:solidFill>
                <a:highlight>
                  <a:srgbClr val="FFFF00"/>
                </a:highlight>
                <a:latin typeface="Meiryo UI"/>
                <a:ea typeface="Meiryo UI"/>
              </a:rPr>
              <a:t>●税率改定案Ⓐ</a:t>
            </a:r>
            <a:endParaRPr lang="en-US" altLang="ja-JP" sz="1400" b="1" dirty="0"/>
          </a:p>
        </p:txBody>
      </p:sp>
    </p:spTree>
    <p:extLst>
      <p:ext uri="{BB962C8B-B14F-4D97-AF65-F5344CB8AC3E}">
        <p14:creationId xmlns:p14="http://schemas.microsoft.com/office/powerpoint/2010/main" val="3864691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 name="表 57">
            <a:extLst>
              <a:ext uri="{FF2B5EF4-FFF2-40B4-BE49-F238E27FC236}">
                <a16:creationId xmlns:a16="http://schemas.microsoft.com/office/drawing/2014/main" id="{1CCC6888-FA34-4D90-AA36-56BFDFDDFE4A}"/>
              </a:ext>
            </a:extLst>
          </p:cNvPr>
          <p:cNvGraphicFramePr>
            <a:graphicFrameLocks noGrp="1"/>
          </p:cNvGraphicFramePr>
          <p:nvPr>
            <p:extLst>
              <p:ext uri="{D42A27DB-BD31-4B8C-83A1-F6EECF244321}">
                <p14:modId xmlns:p14="http://schemas.microsoft.com/office/powerpoint/2010/main" val="115648781"/>
              </p:ext>
            </p:extLst>
          </p:nvPr>
        </p:nvGraphicFramePr>
        <p:xfrm>
          <a:off x="0" y="4945380"/>
          <a:ext cx="5981700" cy="1912620"/>
        </p:xfrm>
        <a:graphic>
          <a:graphicData uri="http://schemas.openxmlformats.org/drawingml/2006/table">
            <a:tbl>
              <a:tblPr/>
              <a:tblGrid>
                <a:gridCol w="620112">
                  <a:extLst>
                    <a:ext uri="{9D8B030D-6E8A-4147-A177-3AD203B41FA5}">
                      <a16:colId xmlns:a16="http://schemas.microsoft.com/office/drawing/2014/main" val="2631386737"/>
                    </a:ext>
                  </a:extLst>
                </a:gridCol>
                <a:gridCol w="543791">
                  <a:extLst>
                    <a:ext uri="{9D8B030D-6E8A-4147-A177-3AD203B41FA5}">
                      <a16:colId xmlns:a16="http://schemas.microsoft.com/office/drawing/2014/main" val="2391688500"/>
                    </a:ext>
                  </a:extLst>
                </a:gridCol>
                <a:gridCol w="591492">
                  <a:extLst>
                    <a:ext uri="{9D8B030D-6E8A-4147-A177-3AD203B41FA5}">
                      <a16:colId xmlns:a16="http://schemas.microsoft.com/office/drawing/2014/main" val="1076817404"/>
                    </a:ext>
                  </a:extLst>
                </a:gridCol>
                <a:gridCol w="667813">
                  <a:extLst>
                    <a:ext uri="{9D8B030D-6E8A-4147-A177-3AD203B41FA5}">
                      <a16:colId xmlns:a16="http://schemas.microsoft.com/office/drawing/2014/main" val="2829445243"/>
                    </a:ext>
                  </a:extLst>
                </a:gridCol>
                <a:gridCol w="791836">
                  <a:extLst>
                    <a:ext uri="{9D8B030D-6E8A-4147-A177-3AD203B41FA5}">
                      <a16:colId xmlns:a16="http://schemas.microsoft.com/office/drawing/2014/main" val="4089394026"/>
                    </a:ext>
                  </a:extLst>
                </a:gridCol>
                <a:gridCol w="2766656">
                  <a:extLst>
                    <a:ext uri="{9D8B030D-6E8A-4147-A177-3AD203B41FA5}">
                      <a16:colId xmlns:a16="http://schemas.microsoft.com/office/drawing/2014/main" val="1266818962"/>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7</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（７割軽減世帯＋介護納付金１名）</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47,500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1,600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49,100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1,600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767867970"/>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1329084"/>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72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世帯主（父）、世帯員（母）、世帯員（子）の</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人とも</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人とも所得なし</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43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万円以下の世帯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0272002"/>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4014107621"/>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42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567198392"/>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4138167405"/>
                  </a:ext>
                </a:extLst>
              </a:tr>
            </a:tbl>
          </a:graphicData>
        </a:graphic>
      </p:graphicFrame>
      <p:graphicFrame>
        <p:nvGraphicFramePr>
          <p:cNvPr id="59" name="表 58">
            <a:extLst>
              <a:ext uri="{FF2B5EF4-FFF2-40B4-BE49-F238E27FC236}">
                <a16:creationId xmlns:a16="http://schemas.microsoft.com/office/drawing/2014/main" id="{34F044D5-6129-4534-99DA-15F4A5F4AB10}"/>
              </a:ext>
            </a:extLst>
          </p:cNvPr>
          <p:cNvGraphicFramePr>
            <a:graphicFrameLocks noGrp="1"/>
          </p:cNvGraphicFramePr>
          <p:nvPr>
            <p:extLst>
              <p:ext uri="{D42A27DB-BD31-4B8C-83A1-F6EECF244321}">
                <p14:modId xmlns:p14="http://schemas.microsoft.com/office/powerpoint/2010/main" val="954165054"/>
              </p:ext>
            </p:extLst>
          </p:nvPr>
        </p:nvGraphicFramePr>
        <p:xfrm>
          <a:off x="0" y="428276"/>
          <a:ext cx="5981700" cy="1303020"/>
        </p:xfrm>
        <a:graphic>
          <a:graphicData uri="http://schemas.openxmlformats.org/drawingml/2006/table">
            <a:tbl>
              <a:tblPr/>
              <a:tblGrid>
                <a:gridCol w="620112">
                  <a:extLst>
                    <a:ext uri="{9D8B030D-6E8A-4147-A177-3AD203B41FA5}">
                      <a16:colId xmlns:a16="http://schemas.microsoft.com/office/drawing/2014/main" val="2191066940"/>
                    </a:ext>
                  </a:extLst>
                </a:gridCol>
                <a:gridCol w="543791">
                  <a:extLst>
                    <a:ext uri="{9D8B030D-6E8A-4147-A177-3AD203B41FA5}">
                      <a16:colId xmlns:a16="http://schemas.microsoft.com/office/drawing/2014/main" val="142066038"/>
                    </a:ext>
                  </a:extLst>
                </a:gridCol>
                <a:gridCol w="591492">
                  <a:extLst>
                    <a:ext uri="{9D8B030D-6E8A-4147-A177-3AD203B41FA5}">
                      <a16:colId xmlns:a16="http://schemas.microsoft.com/office/drawing/2014/main" val="4044174836"/>
                    </a:ext>
                  </a:extLst>
                </a:gridCol>
                <a:gridCol w="667813">
                  <a:extLst>
                    <a:ext uri="{9D8B030D-6E8A-4147-A177-3AD203B41FA5}">
                      <a16:colId xmlns:a16="http://schemas.microsoft.com/office/drawing/2014/main" val="946151424"/>
                    </a:ext>
                  </a:extLst>
                </a:gridCol>
                <a:gridCol w="791836">
                  <a:extLst>
                    <a:ext uri="{9D8B030D-6E8A-4147-A177-3AD203B41FA5}">
                      <a16:colId xmlns:a16="http://schemas.microsoft.com/office/drawing/2014/main" val="429235101"/>
                    </a:ext>
                  </a:extLst>
                </a:gridCol>
                <a:gridCol w="2766656">
                  <a:extLst>
                    <a:ext uri="{9D8B030D-6E8A-4147-A177-3AD203B41FA5}">
                      <a16:colId xmlns:a16="http://schemas.microsoft.com/office/drawing/2014/main" val="3144562979"/>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（７割軽減世帯）</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22,000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22,500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503875568"/>
                  </a:ext>
                </a:extLst>
              </a:tr>
              <a:tr h="304800">
                <a:tc>
                  <a:txBody>
                    <a:bodyPr/>
                    <a:lstStyle/>
                    <a:p>
                      <a:pPr algn="ctr" fontAlgn="ctr"/>
                      <a:r>
                        <a:rPr lang="ja-JP" altLang="en-US" sz="10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4028902"/>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65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1,499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世帯主のみ加入、</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歳以上、所得なし</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43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万円以下の世帯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6253489"/>
                  </a:ext>
                </a:extLst>
              </a:tr>
              <a:tr h="304800">
                <a:tc>
                  <a:txBody>
                    <a:bodyPr/>
                    <a:lstStyle/>
                    <a:p>
                      <a:pPr algn="ctr" fontAlgn="ct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145633753"/>
                  </a:ext>
                </a:extLst>
              </a:tr>
            </a:tbl>
          </a:graphicData>
        </a:graphic>
      </p:graphicFrame>
      <p:graphicFrame>
        <p:nvGraphicFramePr>
          <p:cNvPr id="60" name="表 59">
            <a:extLst>
              <a:ext uri="{FF2B5EF4-FFF2-40B4-BE49-F238E27FC236}">
                <a16:creationId xmlns:a16="http://schemas.microsoft.com/office/drawing/2014/main" id="{6A4B82FB-3F8D-4750-AFDA-49115BA09596}"/>
              </a:ext>
            </a:extLst>
          </p:cNvPr>
          <p:cNvGraphicFramePr>
            <a:graphicFrameLocks noGrp="1"/>
          </p:cNvGraphicFramePr>
          <p:nvPr>
            <p:extLst>
              <p:ext uri="{D42A27DB-BD31-4B8C-83A1-F6EECF244321}">
                <p14:modId xmlns:p14="http://schemas.microsoft.com/office/powerpoint/2010/main" val="3779079079"/>
              </p:ext>
            </p:extLst>
          </p:nvPr>
        </p:nvGraphicFramePr>
        <p:xfrm>
          <a:off x="6096000" y="184785"/>
          <a:ext cx="5981700" cy="1303020"/>
        </p:xfrm>
        <a:graphic>
          <a:graphicData uri="http://schemas.openxmlformats.org/drawingml/2006/table">
            <a:tbl>
              <a:tblPr/>
              <a:tblGrid>
                <a:gridCol w="620112">
                  <a:extLst>
                    <a:ext uri="{9D8B030D-6E8A-4147-A177-3AD203B41FA5}">
                      <a16:colId xmlns:a16="http://schemas.microsoft.com/office/drawing/2014/main" val="3848878365"/>
                    </a:ext>
                  </a:extLst>
                </a:gridCol>
                <a:gridCol w="543791">
                  <a:extLst>
                    <a:ext uri="{9D8B030D-6E8A-4147-A177-3AD203B41FA5}">
                      <a16:colId xmlns:a16="http://schemas.microsoft.com/office/drawing/2014/main" val="1261711870"/>
                    </a:ext>
                  </a:extLst>
                </a:gridCol>
                <a:gridCol w="591492">
                  <a:extLst>
                    <a:ext uri="{9D8B030D-6E8A-4147-A177-3AD203B41FA5}">
                      <a16:colId xmlns:a16="http://schemas.microsoft.com/office/drawing/2014/main" val="1953083299"/>
                    </a:ext>
                  </a:extLst>
                </a:gridCol>
                <a:gridCol w="667813">
                  <a:extLst>
                    <a:ext uri="{9D8B030D-6E8A-4147-A177-3AD203B41FA5}">
                      <a16:colId xmlns:a16="http://schemas.microsoft.com/office/drawing/2014/main" val="416320967"/>
                    </a:ext>
                  </a:extLst>
                </a:gridCol>
                <a:gridCol w="791836">
                  <a:extLst>
                    <a:ext uri="{9D8B030D-6E8A-4147-A177-3AD203B41FA5}">
                      <a16:colId xmlns:a16="http://schemas.microsoft.com/office/drawing/2014/main" val="616248977"/>
                    </a:ext>
                  </a:extLst>
                </a:gridCol>
                <a:gridCol w="2766656">
                  <a:extLst>
                    <a:ext uri="{9D8B030D-6E8A-4147-A177-3AD203B41FA5}">
                      <a16:colId xmlns:a16="http://schemas.microsoft.com/office/drawing/2014/main" val="529640519"/>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（５割軽減世帯＋介護納付金１名）</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80,500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1,600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82,100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1,600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656835129"/>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82168467"/>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70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万円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383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世帯主のみ加入、</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70</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43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73.5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2707877"/>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775864849"/>
                  </a:ext>
                </a:extLst>
              </a:tr>
            </a:tbl>
          </a:graphicData>
        </a:graphic>
      </p:graphicFrame>
      <p:graphicFrame>
        <p:nvGraphicFramePr>
          <p:cNvPr id="61" name="表 60">
            <a:extLst>
              <a:ext uri="{FF2B5EF4-FFF2-40B4-BE49-F238E27FC236}">
                <a16:creationId xmlns:a16="http://schemas.microsoft.com/office/drawing/2014/main" id="{5BE3BF3F-58BB-42DF-BA69-7312F45DFEE1}"/>
              </a:ext>
            </a:extLst>
          </p:cNvPr>
          <p:cNvGraphicFramePr>
            <a:graphicFrameLocks noGrp="1"/>
          </p:cNvGraphicFramePr>
          <p:nvPr>
            <p:extLst>
              <p:ext uri="{D42A27DB-BD31-4B8C-83A1-F6EECF244321}">
                <p14:modId xmlns:p14="http://schemas.microsoft.com/office/powerpoint/2010/main" val="965584822"/>
              </p:ext>
            </p:extLst>
          </p:nvPr>
        </p:nvGraphicFramePr>
        <p:xfrm>
          <a:off x="0" y="1841024"/>
          <a:ext cx="5981700" cy="1303020"/>
        </p:xfrm>
        <a:graphic>
          <a:graphicData uri="http://schemas.openxmlformats.org/drawingml/2006/table">
            <a:tbl>
              <a:tblPr/>
              <a:tblGrid>
                <a:gridCol w="620112">
                  <a:extLst>
                    <a:ext uri="{9D8B030D-6E8A-4147-A177-3AD203B41FA5}">
                      <a16:colId xmlns:a16="http://schemas.microsoft.com/office/drawing/2014/main" val="1176124558"/>
                    </a:ext>
                  </a:extLst>
                </a:gridCol>
                <a:gridCol w="543791">
                  <a:extLst>
                    <a:ext uri="{9D8B030D-6E8A-4147-A177-3AD203B41FA5}">
                      <a16:colId xmlns:a16="http://schemas.microsoft.com/office/drawing/2014/main" val="3031169209"/>
                    </a:ext>
                  </a:extLst>
                </a:gridCol>
                <a:gridCol w="591492">
                  <a:extLst>
                    <a:ext uri="{9D8B030D-6E8A-4147-A177-3AD203B41FA5}">
                      <a16:colId xmlns:a16="http://schemas.microsoft.com/office/drawing/2014/main" val="2853352996"/>
                    </a:ext>
                  </a:extLst>
                </a:gridCol>
                <a:gridCol w="667813">
                  <a:extLst>
                    <a:ext uri="{9D8B030D-6E8A-4147-A177-3AD203B41FA5}">
                      <a16:colId xmlns:a16="http://schemas.microsoft.com/office/drawing/2014/main" val="231214275"/>
                    </a:ext>
                  </a:extLst>
                </a:gridCol>
                <a:gridCol w="791836">
                  <a:extLst>
                    <a:ext uri="{9D8B030D-6E8A-4147-A177-3AD203B41FA5}">
                      <a16:colId xmlns:a16="http://schemas.microsoft.com/office/drawing/2014/main" val="4255241911"/>
                    </a:ext>
                  </a:extLst>
                </a:gridCol>
                <a:gridCol w="2766656">
                  <a:extLst>
                    <a:ext uri="{9D8B030D-6E8A-4147-A177-3AD203B41FA5}">
                      <a16:colId xmlns:a16="http://schemas.microsoft.com/office/drawing/2014/main" val="3896729462"/>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3</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（介護納付金１名）</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284,100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5,600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289,700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5,600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765134407"/>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4343028"/>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55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190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万円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181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世帯主のみ加入、</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190</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165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195.5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7109426"/>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204174872"/>
                  </a:ext>
                </a:extLst>
              </a:tr>
            </a:tbl>
          </a:graphicData>
        </a:graphic>
      </p:graphicFrame>
      <p:graphicFrame>
        <p:nvGraphicFramePr>
          <p:cNvPr id="62" name="表 61">
            <a:extLst>
              <a:ext uri="{FF2B5EF4-FFF2-40B4-BE49-F238E27FC236}">
                <a16:creationId xmlns:a16="http://schemas.microsoft.com/office/drawing/2014/main" id="{20519D82-F733-4F53-AB4C-BCDD91C88942}"/>
              </a:ext>
            </a:extLst>
          </p:cNvPr>
          <p:cNvGraphicFramePr>
            <a:graphicFrameLocks noGrp="1"/>
          </p:cNvGraphicFramePr>
          <p:nvPr>
            <p:extLst>
              <p:ext uri="{D42A27DB-BD31-4B8C-83A1-F6EECF244321}">
                <p14:modId xmlns:p14="http://schemas.microsoft.com/office/powerpoint/2010/main" val="3385601658"/>
              </p:ext>
            </p:extLst>
          </p:nvPr>
        </p:nvGraphicFramePr>
        <p:xfrm>
          <a:off x="6096000" y="1536224"/>
          <a:ext cx="5981700" cy="1607820"/>
        </p:xfrm>
        <a:graphic>
          <a:graphicData uri="http://schemas.openxmlformats.org/drawingml/2006/table">
            <a:tbl>
              <a:tblPr/>
              <a:tblGrid>
                <a:gridCol w="620112">
                  <a:extLst>
                    <a:ext uri="{9D8B030D-6E8A-4147-A177-3AD203B41FA5}">
                      <a16:colId xmlns:a16="http://schemas.microsoft.com/office/drawing/2014/main" val="3368949481"/>
                    </a:ext>
                  </a:extLst>
                </a:gridCol>
                <a:gridCol w="543791">
                  <a:extLst>
                    <a:ext uri="{9D8B030D-6E8A-4147-A177-3AD203B41FA5}">
                      <a16:colId xmlns:a16="http://schemas.microsoft.com/office/drawing/2014/main" val="3969533167"/>
                    </a:ext>
                  </a:extLst>
                </a:gridCol>
                <a:gridCol w="591492">
                  <a:extLst>
                    <a:ext uri="{9D8B030D-6E8A-4147-A177-3AD203B41FA5}">
                      <a16:colId xmlns:a16="http://schemas.microsoft.com/office/drawing/2014/main" val="3546147146"/>
                    </a:ext>
                  </a:extLst>
                </a:gridCol>
                <a:gridCol w="667813">
                  <a:extLst>
                    <a:ext uri="{9D8B030D-6E8A-4147-A177-3AD203B41FA5}">
                      <a16:colId xmlns:a16="http://schemas.microsoft.com/office/drawing/2014/main" val="3055445144"/>
                    </a:ext>
                  </a:extLst>
                </a:gridCol>
                <a:gridCol w="791836">
                  <a:extLst>
                    <a:ext uri="{9D8B030D-6E8A-4147-A177-3AD203B41FA5}">
                      <a16:colId xmlns:a16="http://schemas.microsoft.com/office/drawing/2014/main" val="2358407154"/>
                    </a:ext>
                  </a:extLst>
                </a:gridCol>
                <a:gridCol w="2766656">
                  <a:extLst>
                    <a:ext uri="{9D8B030D-6E8A-4147-A177-3AD203B41FA5}">
                      <a16:colId xmlns:a16="http://schemas.microsoft.com/office/drawing/2014/main" val="1843186336"/>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4</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（７割軽減世帯）</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32,300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1,000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33,300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1,000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02523957"/>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0260013"/>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241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世帯主（夫）、世帯員（妻）の</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人とも</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歳以上、夫：所得なし、妻：所得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40</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43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万円以下の世帯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3938903"/>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68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40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万円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059384169"/>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945131586"/>
                  </a:ext>
                </a:extLst>
              </a:tr>
            </a:tbl>
          </a:graphicData>
        </a:graphic>
      </p:graphicFrame>
      <p:graphicFrame>
        <p:nvGraphicFramePr>
          <p:cNvPr id="63" name="表 62">
            <a:extLst>
              <a:ext uri="{FF2B5EF4-FFF2-40B4-BE49-F238E27FC236}">
                <a16:creationId xmlns:a16="http://schemas.microsoft.com/office/drawing/2014/main" id="{EB65AFBA-2AB5-4543-A5AF-5C3BB1785D06}"/>
              </a:ext>
            </a:extLst>
          </p:cNvPr>
          <p:cNvGraphicFramePr>
            <a:graphicFrameLocks noGrp="1"/>
          </p:cNvGraphicFramePr>
          <p:nvPr>
            <p:extLst>
              <p:ext uri="{D42A27DB-BD31-4B8C-83A1-F6EECF244321}">
                <p14:modId xmlns:p14="http://schemas.microsoft.com/office/powerpoint/2010/main" val="2901993665"/>
              </p:ext>
            </p:extLst>
          </p:nvPr>
        </p:nvGraphicFramePr>
        <p:xfrm>
          <a:off x="0" y="3263758"/>
          <a:ext cx="5981700" cy="1607820"/>
        </p:xfrm>
        <a:graphic>
          <a:graphicData uri="http://schemas.openxmlformats.org/drawingml/2006/table">
            <a:tbl>
              <a:tblPr/>
              <a:tblGrid>
                <a:gridCol w="620112">
                  <a:extLst>
                    <a:ext uri="{9D8B030D-6E8A-4147-A177-3AD203B41FA5}">
                      <a16:colId xmlns:a16="http://schemas.microsoft.com/office/drawing/2014/main" val="969295597"/>
                    </a:ext>
                  </a:extLst>
                </a:gridCol>
                <a:gridCol w="543791">
                  <a:extLst>
                    <a:ext uri="{9D8B030D-6E8A-4147-A177-3AD203B41FA5}">
                      <a16:colId xmlns:a16="http://schemas.microsoft.com/office/drawing/2014/main" val="3654345920"/>
                    </a:ext>
                  </a:extLst>
                </a:gridCol>
                <a:gridCol w="591492">
                  <a:extLst>
                    <a:ext uri="{9D8B030D-6E8A-4147-A177-3AD203B41FA5}">
                      <a16:colId xmlns:a16="http://schemas.microsoft.com/office/drawing/2014/main" val="4206644959"/>
                    </a:ext>
                  </a:extLst>
                </a:gridCol>
                <a:gridCol w="667813">
                  <a:extLst>
                    <a:ext uri="{9D8B030D-6E8A-4147-A177-3AD203B41FA5}">
                      <a16:colId xmlns:a16="http://schemas.microsoft.com/office/drawing/2014/main" val="1967110184"/>
                    </a:ext>
                  </a:extLst>
                </a:gridCol>
                <a:gridCol w="791836">
                  <a:extLst>
                    <a:ext uri="{9D8B030D-6E8A-4147-A177-3AD203B41FA5}">
                      <a16:colId xmlns:a16="http://schemas.microsoft.com/office/drawing/2014/main" val="1478437231"/>
                    </a:ext>
                  </a:extLst>
                </a:gridCol>
                <a:gridCol w="2766656">
                  <a:extLst>
                    <a:ext uri="{9D8B030D-6E8A-4147-A177-3AD203B41FA5}">
                      <a16:colId xmlns:a16="http://schemas.microsoft.com/office/drawing/2014/main" val="3233316004"/>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（２割軽減世帯＋未就学児１名）</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167,500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3,700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171,200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3,700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15211656"/>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2803530"/>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130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万円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世帯主（母）、世帯員（子）の</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母：</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130</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万円、子：高校生以下・所得なし</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104</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134.5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1675017"/>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32195017"/>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4021523058"/>
                  </a:ext>
                </a:extLst>
              </a:tr>
            </a:tbl>
          </a:graphicData>
        </a:graphic>
      </p:graphicFrame>
      <p:graphicFrame>
        <p:nvGraphicFramePr>
          <p:cNvPr id="64" name="表 63">
            <a:extLst>
              <a:ext uri="{FF2B5EF4-FFF2-40B4-BE49-F238E27FC236}">
                <a16:creationId xmlns:a16="http://schemas.microsoft.com/office/drawing/2014/main" id="{819AA4B7-D893-4EB5-ABA3-7AE1D0EF3536}"/>
              </a:ext>
            </a:extLst>
          </p:cNvPr>
          <p:cNvGraphicFramePr>
            <a:graphicFrameLocks noGrp="1"/>
          </p:cNvGraphicFramePr>
          <p:nvPr>
            <p:extLst>
              <p:ext uri="{D42A27DB-BD31-4B8C-83A1-F6EECF244321}">
                <p14:modId xmlns:p14="http://schemas.microsoft.com/office/powerpoint/2010/main" val="1021942622"/>
              </p:ext>
            </p:extLst>
          </p:nvPr>
        </p:nvGraphicFramePr>
        <p:xfrm>
          <a:off x="6096000" y="3263758"/>
          <a:ext cx="5981700" cy="1607820"/>
        </p:xfrm>
        <a:graphic>
          <a:graphicData uri="http://schemas.openxmlformats.org/drawingml/2006/table">
            <a:tbl>
              <a:tblPr/>
              <a:tblGrid>
                <a:gridCol w="620112">
                  <a:extLst>
                    <a:ext uri="{9D8B030D-6E8A-4147-A177-3AD203B41FA5}">
                      <a16:colId xmlns:a16="http://schemas.microsoft.com/office/drawing/2014/main" val="4239983876"/>
                    </a:ext>
                  </a:extLst>
                </a:gridCol>
                <a:gridCol w="543791">
                  <a:extLst>
                    <a:ext uri="{9D8B030D-6E8A-4147-A177-3AD203B41FA5}">
                      <a16:colId xmlns:a16="http://schemas.microsoft.com/office/drawing/2014/main" val="1185510659"/>
                    </a:ext>
                  </a:extLst>
                </a:gridCol>
                <a:gridCol w="591492">
                  <a:extLst>
                    <a:ext uri="{9D8B030D-6E8A-4147-A177-3AD203B41FA5}">
                      <a16:colId xmlns:a16="http://schemas.microsoft.com/office/drawing/2014/main" val="2802628400"/>
                    </a:ext>
                  </a:extLst>
                </a:gridCol>
                <a:gridCol w="667813">
                  <a:extLst>
                    <a:ext uri="{9D8B030D-6E8A-4147-A177-3AD203B41FA5}">
                      <a16:colId xmlns:a16="http://schemas.microsoft.com/office/drawing/2014/main" val="4190781440"/>
                    </a:ext>
                  </a:extLst>
                </a:gridCol>
                <a:gridCol w="791836">
                  <a:extLst>
                    <a:ext uri="{9D8B030D-6E8A-4147-A177-3AD203B41FA5}">
                      <a16:colId xmlns:a16="http://schemas.microsoft.com/office/drawing/2014/main" val="3349294730"/>
                    </a:ext>
                  </a:extLst>
                </a:gridCol>
                <a:gridCol w="2766656">
                  <a:extLst>
                    <a:ext uri="{9D8B030D-6E8A-4147-A177-3AD203B41FA5}">
                      <a16:colId xmlns:a16="http://schemas.microsoft.com/office/drawing/2014/main" val="1918810165"/>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6</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（介護納付金１名）</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397,700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7,100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404,800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7,100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86478682"/>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3476037"/>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250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万円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63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世帯主（母）、世帯員（子）の</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母：</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250</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万円、子：高校生以下・所得なし</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226</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256.5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2314660"/>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339815449"/>
                  </a:ext>
                </a:extLst>
              </a:tr>
              <a:tr h="304800">
                <a:tc>
                  <a:txBody>
                    <a:bodyPr/>
                    <a:lstStyle/>
                    <a:p>
                      <a:pPr algn="ctr" fontAlgn="ct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872711838"/>
                  </a:ext>
                </a:extLst>
              </a:tr>
            </a:tbl>
          </a:graphicData>
        </a:graphic>
      </p:graphicFrame>
      <p:graphicFrame>
        <p:nvGraphicFramePr>
          <p:cNvPr id="65" name="表 64">
            <a:extLst>
              <a:ext uri="{FF2B5EF4-FFF2-40B4-BE49-F238E27FC236}">
                <a16:creationId xmlns:a16="http://schemas.microsoft.com/office/drawing/2014/main" id="{C5A9C733-2CE1-4CC4-8981-364CB85CB501}"/>
              </a:ext>
            </a:extLst>
          </p:cNvPr>
          <p:cNvGraphicFramePr>
            <a:graphicFrameLocks noGrp="1"/>
          </p:cNvGraphicFramePr>
          <p:nvPr>
            <p:extLst>
              <p:ext uri="{D42A27DB-BD31-4B8C-83A1-F6EECF244321}">
                <p14:modId xmlns:p14="http://schemas.microsoft.com/office/powerpoint/2010/main" val="1426939502"/>
              </p:ext>
            </p:extLst>
          </p:nvPr>
        </p:nvGraphicFramePr>
        <p:xfrm>
          <a:off x="6096000" y="4945380"/>
          <a:ext cx="5981700" cy="1912620"/>
        </p:xfrm>
        <a:graphic>
          <a:graphicData uri="http://schemas.openxmlformats.org/drawingml/2006/table">
            <a:tbl>
              <a:tblPr/>
              <a:tblGrid>
                <a:gridCol w="620112">
                  <a:extLst>
                    <a:ext uri="{9D8B030D-6E8A-4147-A177-3AD203B41FA5}">
                      <a16:colId xmlns:a16="http://schemas.microsoft.com/office/drawing/2014/main" val="1479330067"/>
                    </a:ext>
                  </a:extLst>
                </a:gridCol>
                <a:gridCol w="543791">
                  <a:extLst>
                    <a:ext uri="{9D8B030D-6E8A-4147-A177-3AD203B41FA5}">
                      <a16:colId xmlns:a16="http://schemas.microsoft.com/office/drawing/2014/main" val="2058013344"/>
                    </a:ext>
                  </a:extLst>
                </a:gridCol>
                <a:gridCol w="591492">
                  <a:extLst>
                    <a:ext uri="{9D8B030D-6E8A-4147-A177-3AD203B41FA5}">
                      <a16:colId xmlns:a16="http://schemas.microsoft.com/office/drawing/2014/main" val="3873871396"/>
                    </a:ext>
                  </a:extLst>
                </a:gridCol>
                <a:gridCol w="667813">
                  <a:extLst>
                    <a:ext uri="{9D8B030D-6E8A-4147-A177-3AD203B41FA5}">
                      <a16:colId xmlns:a16="http://schemas.microsoft.com/office/drawing/2014/main" val="1648225720"/>
                    </a:ext>
                  </a:extLst>
                </a:gridCol>
                <a:gridCol w="791836">
                  <a:extLst>
                    <a:ext uri="{9D8B030D-6E8A-4147-A177-3AD203B41FA5}">
                      <a16:colId xmlns:a16="http://schemas.microsoft.com/office/drawing/2014/main" val="985355161"/>
                    </a:ext>
                  </a:extLst>
                </a:gridCol>
                <a:gridCol w="2766656">
                  <a:extLst>
                    <a:ext uri="{9D8B030D-6E8A-4147-A177-3AD203B41FA5}">
                      <a16:colId xmlns:a16="http://schemas.microsoft.com/office/drawing/2014/main" val="1792179072"/>
                    </a:ext>
                  </a:extLst>
                </a:gridCol>
              </a:tblGrid>
              <a:tr h="388620">
                <a:tc gridSpan="6">
                  <a:txBody>
                    <a:bodyPr/>
                    <a:lstStyle/>
                    <a:p>
                      <a:pPr algn="ctr" fontAlgn="t"/>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モデル</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（２割軽減世帯＋未就学児１名）</a:t>
                      </a:r>
                      <a:b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b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260,500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（現行国保税）＋</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5,200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（子育て支援金）＝</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265,700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　</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R8</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は現行から</a:t>
                      </a:r>
                      <a:r>
                        <a:rPr lang="en-US" altLang="ja-JP" sz="1200" b="0" i="0" u="none" strike="noStrike" dirty="0">
                          <a:solidFill>
                            <a:schemeClr val="tx1"/>
                          </a:solidFill>
                          <a:effectLst/>
                          <a:latin typeface="ＭＳ ゴシック" panose="020B0609070205080204" pitchFamily="49" charset="-128"/>
                          <a:ea typeface="ＭＳ ゴシック" panose="020B0609070205080204" pitchFamily="49" charset="-128"/>
                        </a:rPr>
                        <a:t>5,200</a:t>
                      </a:r>
                      <a:r>
                        <a:rPr lang="ja-JP" altLang="en-US" sz="1200" b="0" i="0" u="none" strike="noStrike" dirty="0">
                          <a:solidFill>
                            <a:schemeClr val="tx1"/>
                          </a:solidFill>
                          <a:effectLst/>
                          <a:latin typeface="ＭＳ ゴシック" panose="020B0609070205080204" pitchFamily="49" charset="-128"/>
                          <a:ea typeface="ＭＳ ゴシック" panose="020B0609070205080204" pitchFamily="49" charset="-128"/>
                        </a:rPr>
                        <a:t>円増</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EC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58484551"/>
                  </a:ext>
                </a:extLst>
              </a:tr>
              <a:tr h="304800">
                <a:tc>
                  <a:txBody>
                    <a:bodyPr/>
                    <a:lstStyle/>
                    <a:p>
                      <a:pPr algn="ctr" fontAlgn="ctr"/>
                      <a:r>
                        <a:rPr lang="ja-JP" altLang="en-US" sz="10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年齢</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所得</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加入者数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該当世帯数</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備考</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8783604"/>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世帯主</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190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万円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en-US" altLang="ja-JP" sz="1200" b="0" i="0" u="none" strike="noStrike" dirty="0">
                          <a:solidFill>
                            <a:srgbClr val="000000"/>
                          </a:solidFill>
                          <a:effectLst/>
                          <a:latin typeface="ＭＳ 明朝" panose="02020609040205080304" pitchFamily="17" charset="-128"/>
                          <a:ea typeface="ＭＳ 明朝" panose="02020609040205080304" pitchFamily="17" charset="-128"/>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23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l" fontAlgn="t"/>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r>
                        <a:rPr lang="ja-JP" altLang="en-US" sz="1000" b="1" i="0" u="none" strike="noStrike" dirty="0">
                          <a:solidFill>
                            <a:srgbClr val="000000"/>
                          </a:solidFill>
                          <a:effectLst/>
                          <a:latin typeface="ＭＳ 明朝" panose="02020609040205080304" pitchFamily="17" charset="-128"/>
                          <a:ea typeface="ＭＳ 明朝" panose="02020609040205080304" pitchFamily="17" charset="-128"/>
                        </a:rPr>
                        <a:t>モデルケース</a:t>
                      </a:r>
                      <a:r>
                        <a:rPr lang="en-US" altLang="ja-JP" sz="1000" b="1" i="0" u="none" strike="noStrike" dirty="0">
                          <a:solidFill>
                            <a:srgbClr val="000000"/>
                          </a:solidFill>
                          <a:effectLst/>
                          <a:latin typeface="ＭＳ 明朝" panose="02020609040205080304" pitchFamily="17" charset="-128"/>
                          <a:ea typeface="ＭＳ 明朝" panose="02020609040205080304" pitchFamily="17" charset="-128"/>
                        </a:rPr>
                        <a:t>】</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世帯主（母）、世帯員（子）、世帯員（子）の</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母：</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歳以上・所得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190</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万円、子：</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2</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人とも高校生以下・所得なし</a:t>
                      </a:r>
                      <a:b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b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3</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人世帯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165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万円～所得</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195.5</a:t>
                      </a: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万の世帯</a:t>
                      </a: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altLang="en-US" sz="1000" b="1" i="0" u="none" strike="noStrike" dirty="0">
                        <a:solidFill>
                          <a:srgbClr val="000000"/>
                        </a:solidFill>
                        <a:effectLst/>
                        <a:latin typeface="ＭＳ 明朝" panose="02020609040205080304" pitchFamily="17" charset="-128"/>
                        <a:ea typeface="ＭＳ 明朝" panose="02020609040205080304" pitchFamily="17" charset="-128"/>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6020730"/>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889134330"/>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ja-JP" sz="1200" b="0" i="0" u="none" strike="noStrike">
                          <a:solidFill>
                            <a:srgbClr val="000000"/>
                          </a:solidFill>
                          <a:effectLst/>
                          <a:latin typeface="ＭＳ 明朝" panose="02020609040205080304" pitchFamily="17" charset="-128"/>
                          <a:ea typeface="ＭＳ 明朝" panose="02020609040205080304" pitchFamily="17" charset="-128"/>
                        </a:rPr>
                        <a:t>0</a:t>
                      </a: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781324841"/>
                  </a:ext>
                </a:extLst>
              </a:tr>
              <a:tr h="304800">
                <a:tc>
                  <a:txBody>
                    <a:bodyPr/>
                    <a:lstStyle/>
                    <a:p>
                      <a:pPr algn="ctr" fontAlgn="ctr"/>
                      <a:r>
                        <a:rPr lang="ja-JP" altLang="en-US" sz="1000" b="1" i="0" u="none" strike="noStrike">
                          <a:solidFill>
                            <a:srgbClr val="000000"/>
                          </a:solidFill>
                          <a:effectLst/>
                          <a:latin typeface="ＭＳ 明朝" panose="02020609040205080304" pitchFamily="17" charset="-128"/>
                          <a:ea typeface="ＭＳ 明朝" panose="02020609040205080304" pitchFamily="17" charset="-128"/>
                        </a:rPr>
                        <a:t>世帯員</a:t>
                      </a:r>
                      <a:r>
                        <a:rPr lang="en-US" altLang="ja-JP" sz="1000" b="1" i="0" u="none" strike="noStrike">
                          <a:solidFill>
                            <a:srgbClr val="000000"/>
                          </a:solidFill>
                          <a:effectLst/>
                          <a:latin typeface="ＭＳ 明朝" panose="02020609040205080304" pitchFamily="17" charset="-128"/>
                          <a:ea typeface="ＭＳ 明朝" panose="02020609040205080304" pitchFamily="17" charset="-128"/>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ja-JP" altLang="en-US" sz="1200" b="0" i="0" u="none" strike="noStrike" dirty="0">
                          <a:solidFill>
                            <a:srgbClr val="000000"/>
                          </a:solidFill>
                          <a:effectLst/>
                          <a:latin typeface="ＭＳ 明朝" panose="02020609040205080304" pitchFamily="17" charset="-128"/>
                          <a:ea typeface="ＭＳ 明朝" panose="02020609040205080304" pitchFamily="17" charset="-128"/>
                        </a:rPr>
                        <a:t>　</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627135534"/>
                  </a:ext>
                </a:extLst>
              </a:tr>
            </a:tbl>
          </a:graphicData>
        </a:graphic>
      </p:graphicFrame>
      <p:sp>
        <p:nvSpPr>
          <p:cNvPr id="66" name="テキスト ボックス 65">
            <a:extLst>
              <a:ext uri="{FF2B5EF4-FFF2-40B4-BE49-F238E27FC236}">
                <a16:creationId xmlns:a16="http://schemas.microsoft.com/office/drawing/2014/main" id="{DE99D3B0-005B-4E4F-A7AB-5F5857384BAB}"/>
              </a:ext>
            </a:extLst>
          </p:cNvPr>
          <p:cNvSpPr txBox="1"/>
          <p:nvPr/>
        </p:nvSpPr>
        <p:spPr>
          <a:xfrm>
            <a:off x="1673352" y="0"/>
            <a:ext cx="3754374" cy="369332"/>
          </a:xfrm>
          <a:prstGeom prst="rect">
            <a:avLst/>
          </a:prstGeom>
          <a:noFill/>
        </p:spPr>
        <p:txBody>
          <a:bodyPr wrap="square" rtlCol="0">
            <a:spAutoFit/>
          </a:bodyPr>
          <a:lstStyle/>
          <a:p>
            <a:r>
              <a:rPr kumimoji="1" lang="ja-JP" altLang="en-US" dirty="0">
                <a:latin typeface="ＭＳ ゴシック" panose="020B0609070205080204" pitchFamily="49" charset="-128"/>
                <a:ea typeface="ＭＳ ゴシック" panose="020B0609070205080204" pitchFamily="49" charset="-128"/>
              </a:rPr>
              <a:t>モデルケース（１～８）の試算</a:t>
            </a:r>
          </a:p>
        </p:txBody>
      </p:sp>
    </p:spTree>
    <p:extLst>
      <p:ext uri="{BB962C8B-B14F-4D97-AF65-F5344CB8AC3E}">
        <p14:creationId xmlns:p14="http://schemas.microsoft.com/office/powerpoint/2010/main" val="12708122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TotalTime>
  <Words>1735</Words>
  <Application>Microsoft Office PowerPoint</Application>
  <PresentationFormat>ワイド画面</PresentationFormat>
  <Paragraphs>331</Paragraphs>
  <Slides>3</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vt:i4>
      </vt:variant>
    </vt:vector>
  </HeadingPairs>
  <TitlesOfParts>
    <vt:vector size="10" baseType="lpstr">
      <vt:lpstr>Meiryo UI</vt:lpstr>
      <vt:lpstr>ＭＳ ゴシック</vt:lpstr>
      <vt:lpstr>ＭＳ 明朝</vt:lpstr>
      <vt:lpstr>游ゴシック</vt:lpstr>
      <vt:lpstr>游ゴシック Light</vt:lpstr>
      <vt:lpstr>Arial</vt:lpstr>
      <vt:lpstr>Office テーマ</vt:lpstr>
      <vt:lpstr>国民健康保険税条例　税率改定について</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国民健康保険税条例　税率改定について</dc:title>
  <dc:creator>北村長武</dc:creator>
  <cp:lastModifiedBy>北村長武</cp:lastModifiedBy>
  <cp:revision>51</cp:revision>
  <cp:lastPrinted>2026-02-16T23:55:17Z</cp:lastPrinted>
  <dcterms:created xsi:type="dcterms:W3CDTF">2026-02-09T06:03:01Z</dcterms:created>
  <dcterms:modified xsi:type="dcterms:W3CDTF">2026-02-18T00:12:02Z</dcterms:modified>
</cp:coreProperties>
</file>